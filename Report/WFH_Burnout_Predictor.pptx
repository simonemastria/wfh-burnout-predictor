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20" d="100"/>
          <a:sy n="120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rows</c:v>
                </c:pt>
              </c:strCache>
            </c:strRef>
          </c:tx>
          <c:spPr>
            <a:solidFill>
              <a:srgbClr val="2F596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59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5D-124B-A746-4737EF30611A}"/>
              </c:ext>
            </c:extLst>
          </c:dPt>
          <c:dPt>
            <c:idx val="1"/>
            <c:invertIfNegative val="0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5D-124B-A746-4737EF30611A}"/>
              </c:ext>
            </c:extLst>
          </c:dPt>
          <c:dPt>
            <c:idx val="2"/>
            <c:invertIfNegative val="0"/>
            <c:bubble3D val="0"/>
            <c:spPr>
              <a:solidFill>
                <a:srgbClr val="DC5F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5D-124B-A746-4737EF30611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1A2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84.8</c:v>
                </c:pt>
                <c:pt idx="1">
                  <c:v>14.1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5D-124B-A746-4737EF3061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5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270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5B6270"/>
                    </a:solidFill>
                    <a:latin typeface="Arial"/>
                  </a:rPr>
                  <a:t>% of rows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burnout_score</c:v>
                </c:pt>
              </c:strCache>
            </c:strRef>
          </c:tx>
          <c:spPr>
            <a:solidFill>
              <a:srgbClr val="DC5F3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AB-DB42-82D9-CD322B8678ED}"/>
              </c:ext>
            </c:extLst>
          </c:dPt>
          <c:dPt>
            <c:idx val="1"/>
            <c:invertIfNegative val="0"/>
            <c:bubble3D val="0"/>
            <c:spPr>
              <a:solidFill>
                <a:srgbClr val="5C8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AB-DB42-82D9-CD322B8678ED}"/>
              </c:ext>
            </c:extLst>
          </c:dPt>
          <c:dPt>
            <c:idx val="2"/>
            <c:invertIfNegative val="0"/>
            <c:bubble3D val="0"/>
            <c:spPr>
              <a:solidFill>
                <a:srgbClr val="5C8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AB-DB42-82D9-CD322B8678ED}"/>
              </c:ext>
            </c:extLst>
          </c:dPt>
          <c:dPt>
            <c:idx val="3"/>
            <c:invertIfNegative val="0"/>
            <c:bubble3D val="0"/>
            <c:spPr>
              <a:solidFill>
                <a:srgbClr val="5C8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AB-DB42-82D9-CD322B8678ED}"/>
              </c:ext>
            </c:extLst>
          </c:dPt>
          <c:dPt>
            <c:idx val="4"/>
            <c:invertIfNegative val="0"/>
            <c:bubble3D val="0"/>
            <c:spPr>
              <a:solidFill>
                <a:srgbClr val="5C8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7AB-DB42-82D9-CD322B8678ED}"/>
              </c:ext>
            </c:extLst>
          </c:dPt>
          <c:dPt>
            <c:idx val="5"/>
            <c:invertIfNegative val="0"/>
            <c:bubble3D val="0"/>
            <c:spPr>
              <a:solidFill>
                <a:srgbClr val="5C8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7AB-DB42-82D9-CD322B8678ED}"/>
              </c:ext>
            </c:extLst>
          </c:dPt>
          <c:dPt>
            <c:idx val="6"/>
            <c:invertIfNegative val="0"/>
            <c:bubble3D val="0"/>
            <c:spPr>
              <a:solidFill>
                <a:srgbClr val="5C8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7AB-DB42-82D9-CD322B8678ED}"/>
              </c:ext>
            </c:extLst>
          </c:dPt>
          <c:cat>
            <c:strRef>
              <c:f>Sheet1!$A$2:$A$8</c:f>
              <c:strCache>
                <c:ptCount val="7"/>
                <c:pt idx="0">
                  <c:v>task_completion_rate  (−0.96)</c:v>
                </c:pt>
                <c:pt idx="1">
                  <c:v>sleep_hours  (−0.01)</c:v>
                </c:pt>
                <c:pt idx="2">
                  <c:v>breaks_taken  (0.00)</c:v>
                </c:pt>
                <c:pt idx="3">
                  <c:v>after_hours_work  (0.02)</c:v>
                </c:pt>
                <c:pt idx="4">
                  <c:v>meetings_count  (0.08)</c:v>
                </c:pt>
                <c:pt idx="5">
                  <c:v>work_hours  (0.12)</c:v>
                </c:pt>
                <c:pt idx="6">
                  <c:v>screen_time_hours  (0.12)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-0.96</c:v>
                </c:pt>
                <c:pt idx="1">
                  <c:v>-0.01</c:v>
                </c:pt>
                <c:pt idx="2">
                  <c:v>0</c:v>
                </c:pt>
                <c:pt idx="3">
                  <c:v>0.02</c:v>
                </c:pt>
                <c:pt idx="4">
                  <c:v>0.08</c:v>
                </c:pt>
                <c:pt idx="5">
                  <c:v>0.12</c:v>
                </c:pt>
                <c:pt idx="6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7AB-DB42-82D9-CD322B867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71A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-1.1000000000000001"/>
        </c:scaling>
        <c:delete val="0"/>
        <c:axPos val="t"/>
        <c:majorGridlines>
          <c:spPr>
            <a:ln w="9525" cap="flat">
              <a:solidFill>
                <a:srgbClr val="E3E5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270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5B6270"/>
                    </a:solidFill>
                    <a:latin typeface="Arial"/>
                  </a:rPr>
                  <a:t>Correlation with burnout_score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</c:v>
                </c:pt>
              </c:strCache>
            </c:strRef>
          </c:tx>
          <c:spPr>
            <a:solidFill>
              <a:srgbClr val="2F596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59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49-014B-83D7-4D92A576882B}"/>
              </c:ext>
            </c:extLst>
          </c:dPt>
          <c:dPt>
            <c:idx val="1"/>
            <c:invertIfNegative val="0"/>
            <c:bubble3D val="0"/>
            <c:spPr>
              <a:solidFill>
                <a:srgbClr val="DC5F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49-014B-83D7-4D92A576882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71A2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All features</c:v>
                </c:pt>
                <c:pt idx="1">
                  <c:v>Without
task_completion_rate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4.88</c:v>
                </c:pt>
                <c:pt idx="1">
                  <c:v>20.260000000000002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49-014B-83D7-4D92A57688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1A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9525" cap="flat">
              <a:solidFill>
                <a:srgbClr val="E3E5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270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5B6270"/>
                    </a:solidFill>
                    <a:latin typeface="Arial"/>
                  </a:rPr>
                  <a:t>Test MAE (Random Forest)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55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09244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36676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64108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91540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189720" y="777240"/>
            <a:ext cx="68580" cy="6858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46404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973836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1001268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81812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09244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366760" y="1051560"/>
            <a:ext cx="68580" cy="68580"/>
          </a:xfrm>
          <a:prstGeom prst="ellipse">
            <a:avLst/>
          </a:prstGeom>
          <a:solidFill>
            <a:srgbClr val="5C8B9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864108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91540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918972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946404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973836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10012680" y="1051560"/>
            <a:ext cx="68580" cy="68580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81812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09244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36676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864108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8915400" y="1325880"/>
            <a:ext cx="68580" cy="68580"/>
          </a:xfrm>
          <a:prstGeom prst="ellipse">
            <a:avLst/>
          </a:prstGeom>
          <a:solidFill>
            <a:srgbClr val="5C8B9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918972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946404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973836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1001268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781812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809244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836676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8641080" y="1600200"/>
            <a:ext cx="68580" cy="68580"/>
          </a:xfrm>
          <a:prstGeom prst="ellipse">
            <a:avLst/>
          </a:prstGeom>
          <a:solidFill>
            <a:srgbClr val="5C8B9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891540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918972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946404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9738360" y="1600200"/>
            <a:ext cx="68580" cy="68580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10012680" y="160020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781812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8092440" y="1874520"/>
            <a:ext cx="68580" cy="6858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836676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864108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891540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918972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Shape 42"/>
          <p:cNvSpPr/>
          <p:nvPr/>
        </p:nvSpPr>
        <p:spPr>
          <a:xfrm>
            <a:off x="946404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973836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10012680" y="18745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640080" y="868680"/>
            <a:ext cx="3650285" cy="292608"/>
          </a:xfrm>
          <a:prstGeom prst="roundRect">
            <a:avLst>
              <a:gd name="adj" fmla="val 50000"/>
            </a:avLst>
          </a:prstGeom>
          <a:solidFill>
            <a:srgbClr val="1D23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40080" y="868680"/>
            <a:ext cx="3650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D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DATA MINING — MODULE 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WFH Burnout</a:t>
            </a:r>
            <a:endParaRPr lang="en-US" sz="5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640080" y="3703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work-from-home burnout score from daily behavioral signals.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640080" y="4114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CRISP-DM regression and classification project, evaluated on employees unseen during training.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5788152"/>
            <a:ext cx="4937760" cy="0"/>
          </a:xfrm>
          <a:prstGeom prst="line">
            <a:avLst/>
          </a:prstGeom>
          <a:noFill/>
          <a:ln w="12700">
            <a:solidFill>
              <a:srgbClr val="2B32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640080" y="5989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Bologna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Simone Mastria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566160" y="5989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47165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5471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daily behavior predict burnout before it peaks?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burnout_score from work-from-home indicators such as workload, screen time, meetings, breaks, after-hours work, sleep and task completion; evaluated on employees not seen during training.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45326"/>
            <a:ext cx="82296" cy="82296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train / test split: no employee appears on both sides.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12254"/>
            <a:ext cx="82296" cy="82296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3511296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first: dummy models set the bar before complex ones.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79182"/>
            <a:ext cx="82296" cy="82296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68680" y="407822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limits: claims are scoped to what the data supports.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1627632"/>
            <a:ext cx="4830775" cy="1115568"/>
          </a:xfrm>
          <a:prstGeom prst="roundRect">
            <a:avLst>
              <a:gd name="adj" fmla="val 7377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958584" y="1775520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0" descr="icons/IoLocateOu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834956"/>
            <a:ext cx="338328" cy="338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62088" y="1837944"/>
            <a:ext cx="37517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task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58584" y="2320332"/>
            <a:ext cx="4355287" cy="27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</a:t>
            </a:r>
            <a:r>
              <a:rPr lang="en-US" sz="1130" b="1" dirty="0" err="1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burnout_score</a:t>
            </a: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continuous burnout level for each employee.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6720840" y="2871216"/>
            <a:ext cx="4830775" cy="1115568"/>
          </a:xfrm>
          <a:prstGeom prst="roundRect">
            <a:avLst>
              <a:gd name="adj" fmla="val 7377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6958584" y="3006158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1" descr="icons/IoPieChartOu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3065594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62088" y="3081528"/>
            <a:ext cx="37517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task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958584" y="3621024"/>
            <a:ext cx="43552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</a:t>
            </a:r>
            <a:r>
              <a:rPr lang="en-US" sz="113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 </a:t>
            </a: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/ Medium / High), used mainly for interpretation.</a:t>
            </a:r>
            <a:endParaRPr lang="en-US" sz="1130" dirty="0"/>
          </a:p>
        </p:txBody>
      </p:sp>
      <p:sp>
        <p:nvSpPr>
          <p:cNvPr id="23" name="Shape 19"/>
          <p:cNvSpPr/>
          <p:nvPr/>
        </p:nvSpPr>
        <p:spPr>
          <a:xfrm>
            <a:off x="6720840" y="4114800"/>
            <a:ext cx="4830775" cy="1115568"/>
          </a:xfrm>
          <a:prstGeom prst="roundRect">
            <a:avLst>
              <a:gd name="adj" fmla="val 7377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0"/>
          <p:cNvSpPr/>
          <p:nvPr/>
        </p:nvSpPr>
        <p:spPr>
          <a:xfrm>
            <a:off x="6958584" y="4238919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5" name="Image 2" descr="icons/IoEyeOu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020" y="4298355"/>
            <a:ext cx="338328" cy="33832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62088" y="4325112"/>
            <a:ext cx="37517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6958584" y="4864608"/>
            <a:ext cx="43552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technically simple, so the project emphasizes honest data and result understanding.</a:t>
            </a:r>
            <a:endParaRPr lang="en-US" sz="1130" dirty="0"/>
          </a:p>
        </p:txBody>
      </p:sp>
      <p:sp>
        <p:nvSpPr>
          <p:cNvPr id="28" name="Shape 23"/>
          <p:cNvSpPr/>
          <p:nvPr/>
        </p:nvSpPr>
        <p:spPr>
          <a:xfrm>
            <a:off x="640080" y="5394960"/>
            <a:ext cx="10911535" cy="960120"/>
          </a:xfrm>
          <a:prstGeom prst="roundRect">
            <a:avLst>
              <a:gd name="adj" fmla="val 9474"/>
            </a:avLst>
          </a:prstGeom>
          <a:solidFill>
            <a:srgbClr val="EEF0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1357351" y="5522976"/>
            <a:ext cx="384048" cy="38404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0" name="Image 3" descr="icons/IoBulbOu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7277" y="5572902"/>
            <a:ext cx="284196" cy="2841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" y="5961888"/>
            <a:ext cx="1708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2312365" y="55412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3175940" y="5522976"/>
            <a:ext cx="384048" cy="38404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4" name="Image 4" descr="icons/IoSearchOu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866" y="5572902"/>
            <a:ext cx="284196" cy="2841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513533" y="5961888"/>
            <a:ext cx="1708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4130954" y="55412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4994529" y="5522976"/>
            <a:ext cx="384048" cy="38404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8" name="Image 5" descr="icons/IoConstructOu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4455" y="5572902"/>
            <a:ext cx="284196" cy="2841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332122" y="5961888"/>
            <a:ext cx="1708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949544" y="55412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6813118" y="5522976"/>
            <a:ext cx="384048" cy="38404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2" name="Image 6" descr="icons/IoLayersOutlin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3044" y="5572902"/>
            <a:ext cx="284196" cy="28419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150712" y="5961888"/>
            <a:ext cx="1708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7768133" y="55412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8631707" y="5522976"/>
            <a:ext cx="384048" cy="38404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6" name="Image 7" descr="icons/IoCheckmarkDoneOutli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1634" y="5572902"/>
            <a:ext cx="284196" cy="284196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969301" y="5961888"/>
            <a:ext cx="1708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48" name="Text 38"/>
          <p:cNvSpPr/>
          <p:nvPr/>
        </p:nvSpPr>
        <p:spPr>
          <a:xfrm>
            <a:off x="9586722" y="55412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39"/>
          <p:cNvSpPr/>
          <p:nvPr/>
        </p:nvSpPr>
        <p:spPr>
          <a:xfrm>
            <a:off x="10450297" y="5522976"/>
            <a:ext cx="384048" cy="38404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0" name="Image 8" descr="icons/IoRocketOutlin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0223" y="5572902"/>
            <a:ext cx="284196" cy="28419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9787890" y="5961888"/>
            <a:ext cx="1708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53" name="Text 42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16">
            <a:extLst>
              <a:ext uri="{FF2B5EF4-FFF2-40B4-BE49-F238E27FC236}">
                <a16:creationId xmlns:a16="http://schemas.microsoft.com/office/drawing/2014/main" id="{6907C558-1D6F-9978-3105-66C36A17C78C}"/>
              </a:ext>
            </a:extLst>
          </p:cNvPr>
          <p:cNvSpPr/>
          <p:nvPr/>
        </p:nvSpPr>
        <p:spPr>
          <a:xfrm>
            <a:off x="640080" y="4069080"/>
            <a:ext cx="6035040" cy="1737360"/>
          </a:xfrm>
          <a:prstGeom prst="roundRect">
            <a:avLst>
              <a:gd name="adj" fmla="val 4737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1715414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repeated-measures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180 employees contributes 10 daily records, so the identifier is useful for evaluation design (grouping train and test) but not as a predictive feature.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20624" cy="420624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icons/IoServerOu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61" y="2386401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07792"/>
            <a:ext cx="24878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3456432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47974" y="2331720"/>
            <a:ext cx="420624" cy="420624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age 1" descr="icons/IoPeopleOu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655" y="2386401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974" y="2907792"/>
            <a:ext cx="24878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447974" y="3456432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(users)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5868" y="2331720"/>
            <a:ext cx="420624" cy="420624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2" descr="icons/IoRepeatOu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549" y="2386401"/>
            <a:ext cx="311262" cy="311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5868" y="2907792"/>
            <a:ext cx="24878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6255868" y="3456432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per user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63761" y="2331720"/>
            <a:ext cx="420624" cy="420624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3" descr="icons/IoCheckmarkCircleOu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443" y="2386401"/>
            <a:ext cx="311262" cy="3112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63761" y="2907792"/>
            <a:ext cx="24878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9063761" y="3456432"/>
            <a:ext cx="2487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77824" y="41323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— 8 daily behavioral signals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877824" y="4477227"/>
            <a:ext cx="910742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877824" y="4477227"/>
            <a:ext cx="9107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day_type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898294" y="4477227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1"/>
          <p:cNvSpPr/>
          <p:nvPr/>
        </p:nvSpPr>
        <p:spPr>
          <a:xfrm>
            <a:off x="1898294" y="4477227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work_hours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068726" y="4477227"/>
            <a:ext cx="1585570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/>
          <p:nvPr/>
        </p:nvSpPr>
        <p:spPr>
          <a:xfrm>
            <a:off x="3068726" y="4477227"/>
            <a:ext cx="1585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screen_time_hours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764024" y="4477227"/>
            <a:ext cx="1360627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5"/>
          <p:cNvSpPr/>
          <p:nvPr/>
        </p:nvSpPr>
        <p:spPr>
          <a:xfrm>
            <a:off x="4764024" y="4477227"/>
            <a:ext cx="13606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meetings_count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77824" y="4961859"/>
            <a:ext cx="1210666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27"/>
          <p:cNvSpPr/>
          <p:nvPr/>
        </p:nvSpPr>
        <p:spPr>
          <a:xfrm>
            <a:off x="877824" y="4961859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breaks_taken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198218" y="4961859"/>
            <a:ext cx="1510589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29"/>
          <p:cNvSpPr/>
          <p:nvPr/>
        </p:nvSpPr>
        <p:spPr>
          <a:xfrm>
            <a:off x="2198218" y="4961859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after_hours_work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3818534" y="4961859"/>
            <a:ext cx="1135685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1"/>
          <p:cNvSpPr/>
          <p:nvPr/>
        </p:nvSpPr>
        <p:spPr>
          <a:xfrm>
            <a:off x="3818534" y="4961859"/>
            <a:ext cx="1135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sleep_hours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77824" y="5395215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3"/>
          <p:cNvSpPr/>
          <p:nvPr/>
        </p:nvSpPr>
        <p:spPr>
          <a:xfrm>
            <a:off x="877824" y="5395215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task_completion_rate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995160" y="4069080"/>
            <a:ext cx="4556455" cy="1737360"/>
          </a:xfrm>
          <a:prstGeom prst="roundRect">
            <a:avLst>
              <a:gd name="adj" fmla="val 4737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35"/>
          <p:cNvSpPr/>
          <p:nvPr/>
        </p:nvSpPr>
        <p:spPr>
          <a:xfrm>
            <a:off x="7232904" y="4251960"/>
            <a:ext cx="4099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350" dirty="0"/>
          </a:p>
        </p:txBody>
      </p:sp>
      <p:sp>
        <p:nvSpPr>
          <p:cNvPr id="42" name="Shape 36"/>
          <p:cNvSpPr/>
          <p:nvPr/>
        </p:nvSpPr>
        <p:spPr>
          <a:xfrm>
            <a:off x="7232904" y="4745736"/>
            <a:ext cx="100584" cy="100584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37"/>
          <p:cNvSpPr/>
          <p:nvPr/>
        </p:nvSpPr>
        <p:spPr>
          <a:xfrm>
            <a:off x="7452360" y="4636008"/>
            <a:ext cx="38615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burnout_score</a:t>
            </a: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 · regression target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7232904" y="5284806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39"/>
          <p:cNvSpPr/>
          <p:nvPr/>
        </p:nvSpPr>
        <p:spPr>
          <a:xfrm>
            <a:off x="7452360" y="5038344"/>
            <a:ext cx="38615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</a:t>
            </a: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/ Medium / High · classification target</a:t>
            </a:r>
            <a:endParaRPr lang="en-US" sz="1250" dirty="0"/>
          </a:p>
        </p:txBody>
      </p:sp>
      <p:sp>
        <p:nvSpPr>
          <p:cNvPr id="46" name="Text 40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quality is high: no missing values, no duplicates, valid ranges. But external representativeness beyond this public sample remains unverified.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48" name="Text 42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15414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burnout_risk leans heavily toward Low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691640"/>
          <a:ext cx="59436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903720" y="17830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03720" y="2318004"/>
            <a:ext cx="82296" cy="82296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7132320" y="2038038"/>
            <a:ext cx="4419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rows dominate the dataset — 1,527 of 1,800 rows.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03720" y="3031236"/>
            <a:ext cx="82296" cy="82296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132320" y="2751270"/>
            <a:ext cx="4419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appears in only 20 records — about 1.1%.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03720" y="3744468"/>
            <a:ext cx="82296" cy="82296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132320" y="3464502"/>
            <a:ext cx="4419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can look accurate while missing the rarest class entirely.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03720" y="4457700"/>
            <a:ext cx="82296" cy="82296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7132320" y="4177734"/>
            <a:ext cx="4419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continuous burnout_score is therefore treated as the main target.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03720" y="5184648"/>
            <a:ext cx="4647895" cy="914400"/>
          </a:xfrm>
          <a:prstGeom prst="roundRect">
            <a:avLst>
              <a:gd name="adj" fmla="val 9000"/>
            </a:avLst>
          </a:prstGeom>
          <a:solidFill>
            <a:srgbClr val="FBEAE2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141464" y="5330952"/>
            <a:ext cx="4190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84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rows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7141464" y="571500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1,800 carry the High-risk label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19" name="Text 16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15414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7154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feature carries almost all the signal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69164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874520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C5F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−0.96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818120" y="2542032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u="sng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r>
              <a:rPr lang="en-US" sz="13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task_completion_rate and </a:t>
            </a:r>
            <a:r>
              <a:rPr lang="en-US" sz="1300" b="1" dirty="0" err="1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burnout_score</a:t>
            </a:r>
            <a:r>
              <a:rPr lang="en-US" sz="13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18120" y="3429000"/>
            <a:ext cx="3733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useful for prediction, but it is also the main warning sign of the project: the feature may sit very close to the logic that generated the target in the first place.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4892040"/>
            <a:ext cx="3733495" cy="868680"/>
          </a:xfrm>
          <a:prstGeom prst="roundRect">
            <a:avLst>
              <a:gd name="adj" fmla="val 9474"/>
            </a:avLst>
          </a:prstGeom>
          <a:solidFill>
            <a:srgbClr val="E6EDEF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019288" y="5010912"/>
            <a:ext cx="33311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predictors stay within ±0.12 — a much weaker, more plausible behavioral signal.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12" name="Text 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47165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5471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split is designed around people, not rows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employee appeared in both train and test, the model could memorize personal baselines instead of learning generalizable patterns.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77824" y="2432304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0" descr="icons/IoBanOu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491740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404872"/>
            <a:ext cx="2344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77824" y="2944368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is never used as a predictor — it has no generalizable meaning.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4383938" y="219456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4621682" y="2432304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1" descr="icons/IoGitBranchOu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18" y="2491740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25186" y="2404872"/>
            <a:ext cx="2344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split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21682" y="2944368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from the same employee stay entirely in train or entirely in test.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8127797" y="2194560"/>
            <a:ext cx="3423818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8365541" y="2432304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2" descr="icons/IoFilterOu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977" y="2491740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9045" y="2404872"/>
            <a:ext cx="23448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65541" y="2944368"/>
            <a:ext cx="29483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 and model fitting all run inside scikit-learn pipelines.</a:t>
            </a:r>
            <a:endParaRPr lang="en-US" sz="1130" dirty="0"/>
          </a:p>
        </p:txBody>
      </p:sp>
      <p:sp>
        <p:nvSpPr>
          <p:cNvPr id="21" name="Text 16"/>
          <p:cNvSpPr/>
          <p:nvPr/>
        </p:nvSpPr>
        <p:spPr>
          <a:xfrm>
            <a:off x="640080" y="388620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1,440 / 360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40080" y="438912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rows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383938" y="388620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 / 36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4383938" y="438912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users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127797" y="388620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8127797" y="438912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users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0080" y="4892040"/>
            <a:ext cx="10911535" cy="1325880"/>
          </a:xfrm>
          <a:prstGeom prst="roundRect">
            <a:avLst>
              <a:gd name="adj" fmla="val 6207"/>
            </a:avLst>
          </a:prstGeom>
          <a:solidFill>
            <a:srgbClr val="EEF0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3"/>
          <p:cNvSpPr/>
          <p:nvPr/>
        </p:nvSpPr>
        <p:spPr>
          <a:xfrm>
            <a:off x="877824" y="507492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features: interpretable workload-pressure signals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77824" y="5458968"/>
            <a:ext cx="1360627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877824" y="5458968"/>
            <a:ext cx="13606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work_intensity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2348179" y="5458968"/>
            <a:ext cx="1585570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7"/>
          <p:cNvSpPr/>
          <p:nvPr/>
        </p:nvSpPr>
        <p:spPr>
          <a:xfrm>
            <a:off x="2348179" y="5458968"/>
            <a:ext cx="1585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screen_work_ratio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043477" y="5458968"/>
            <a:ext cx="1435608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29"/>
          <p:cNvSpPr/>
          <p:nvPr/>
        </p:nvSpPr>
        <p:spPr>
          <a:xfrm>
            <a:off x="4043477" y="545896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meeting_density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588813" y="5458968"/>
            <a:ext cx="1285646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1"/>
          <p:cNvSpPr/>
          <p:nvPr/>
        </p:nvSpPr>
        <p:spPr>
          <a:xfrm>
            <a:off x="5588813" y="5458968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sleep_deficit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984187" y="5458968"/>
            <a:ext cx="1285646" cy="310896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3"/>
          <p:cNvSpPr/>
          <p:nvPr/>
        </p:nvSpPr>
        <p:spPr>
          <a:xfrm>
            <a:off x="6984187" y="5458968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overwork_flag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40" name="Text 35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74166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74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first, then increasingly complex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22144" cy="1170432"/>
          </a:xfrm>
          <a:prstGeom prst="roundRect">
            <a:avLst>
              <a:gd name="adj" fmla="val 7031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77824" y="1777077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icons/IoFlagOu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36513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856232"/>
            <a:ext cx="144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77824" y="2395728"/>
            <a:ext cx="204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models define the minimum acceptable result.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3436544" y="1645920"/>
            <a:ext cx="2522144" cy="1170432"/>
          </a:xfrm>
          <a:prstGeom prst="roundRect">
            <a:avLst>
              <a:gd name="adj" fmla="val 7031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674288" y="1777077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icons/IoTrendingDownOu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724" y="1836513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77792" y="1856232"/>
            <a:ext cx="144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74288" y="2395728"/>
            <a:ext cx="204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checks whether the signal is mostly linear.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6233008" y="1645920"/>
            <a:ext cx="2522144" cy="1170432"/>
          </a:xfrm>
          <a:prstGeom prst="roundRect">
            <a:avLst>
              <a:gd name="adj" fmla="val 7031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6470752" y="1777077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icons/IoLayersOu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1836513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74256" y="1856232"/>
            <a:ext cx="144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70752" y="2395728"/>
            <a:ext cx="204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 Boosting capture interactions.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9029471" y="1645920"/>
            <a:ext cx="2522144" cy="1170432"/>
          </a:xfrm>
          <a:prstGeom prst="roundRect">
            <a:avLst>
              <a:gd name="adj" fmla="val 7031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267215" y="1777077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icons/IoGitBranchOu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651" y="1836513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0719" y="1856232"/>
            <a:ext cx="1443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67215" y="2395728"/>
            <a:ext cx="204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 keeps user-level grouping during model selection.</a:t>
            </a:r>
            <a:endParaRPr lang="en-US" sz="1130" dirty="0"/>
          </a:p>
        </p:txBody>
      </p:sp>
      <p:sp>
        <p:nvSpPr>
          <p:cNvPr id="25" name="Text 19"/>
          <p:cNvSpPr/>
          <p:nvPr/>
        </p:nvSpPr>
        <p:spPr>
          <a:xfrm>
            <a:off x="640080" y="313639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comparison (training set, GroupKFold)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83864"/>
          <a:ext cx="10911535" cy="2194560"/>
        </p:xfrm>
        <a:graphic>
          <a:graphicData uri="http://schemas.openxmlformats.org/drawingml/2006/table">
            <a:tbl>
              <a:tblPr/>
              <a:tblGrid>
                <a:gridCol w="688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 (median)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 20"/>
          <p:cNvSpPr/>
          <p:nvPr/>
        </p:nvSpPr>
        <p:spPr>
          <a:xfrm>
            <a:off x="640080" y="578815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cross-validation and is selected for tuning.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29" name="Text 22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meaningful models clear the dummy baseline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812280" cy="2523744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 (median)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511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results, before hyperparameter tuning.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63840" y="1691640"/>
            <a:ext cx="3687775" cy="4324958"/>
          </a:xfrm>
          <a:prstGeom prst="roundRect">
            <a:avLst>
              <a:gd name="adj" fmla="val 2232"/>
            </a:avLst>
          </a:prstGeom>
          <a:solidFill>
            <a:srgbClr val="14181F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138160" y="192024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</a:t>
            </a:r>
            <a:endParaRPr lang="en-US" sz="1100" dirty="0"/>
          </a:p>
        </p:txBody>
      </p:sp>
      <p:sp>
        <p:nvSpPr>
          <p:cNvPr id="5" name="Text 6"/>
          <p:cNvSpPr/>
          <p:nvPr/>
        </p:nvSpPr>
        <p:spPr>
          <a:xfrm>
            <a:off x="8138160" y="219456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138160" y="2788920"/>
            <a:ext cx="3139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4.88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138160" y="3374136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38160" y="3611880"/>
            <a:ext cx="3139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6.21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138160" y="4197096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138160" y="4434840"/>
            <a:ext cx="3139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0.936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138160" y="5020056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38160" y="5285232"/>
            <a:ext cx="3139135" cy="0"/>
          </a:xfrm>
          <a:prstGeom prst="line">
            <a:avLst/>
          </a:prstGeom>
          <a:noFill/>
          <a:ln w="12700">
            <a:solidFill>
              <a:srgbClr val="2B32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8138160" y="5394960"/>
            <a:ext cx="3139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08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· max depth 4 · min leaf 8, selected via RandomizedSearchCV on training-set GroupKFold.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19" name="Text 16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83664" cy="292608"/>
          </a:xfrm>
          <a:prstGeom prst="roundRect">
            <a:avLst>
              <a:gd name="adj" fmla="val 50000"/>
            </a:avLst>
          </a:prstGeom>
          <a:solidFill>
            <a:srgbClr val="FBEAE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B84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UNDERSTANDING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one feature, and performance collapses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37360"/>
          <a:ext cx="603504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783080"/>
            <a:ext cx="502920" cy="502920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icons/IoFlameOu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140" y="184846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0" y="2432304"/>
            <a:ext cx="4327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task_completion_rate alone carries almost all of the predictive power.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223760" y="3246120"/>
            <a:ext cx="4327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it pushes Random Forest MAE from 4.88 to 20.26, within noise of the dummy median baseline (≈20.35).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223760" y="4069080"/>
            <a:ext cx="4327855" cy="1691640"/>
          </a:xfrm>
          <a:prstGeom prst="roundRect">
            <a:avLst>
              <a:gd name="adj" fmla="val 4865"/>
            </a:avLst>
          </a:prstGeom>
          <a:solidFill>
            <a:srgbClr val="E6EDEF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7443216" y="4224528"/>
            <a:ext cx="388894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invalidate the pipeline. </a:t>
            </a:r>
            <a:br>
              <a:rPr lang="en-US" sz="12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narrows the claim</a:t>
            </a:r>
            <a:r>
              <a:rPr lang="en-US" sz="120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project demonstrates predictive modeling and is explicit about exactly where its reliability comes from.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13" name="Text 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472538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472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SECONDARY TASK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5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labels help, but the rarest class stays hard to catch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23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3938" y="1691640"/>
            <a:ext cx="3423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3938" y="24231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7797" y="1691640"/>
            <a:ext cx="3423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Logistic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7797" y="242316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 classifier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0911535" cy="1682496"/>
        </p:xfrm>
        <a:graphic>
          <a:graphicData uri="http://schemas.openxmlformats.org/drawingml/2006/table">
            <a:tbl>
              <a:tblPr/>
              <a:tblGrid>
                <a:gridCol w="615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4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4745736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High is low (because of many false alarms) but </a:t>
            </a:r>
            <a:r>
              <a:rPr lang="en-US" sz="1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r>
              <a:rPr lang="en-US" sz="1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</a:t>
            </a:r>
            <a:r>
              <a:rPr lang="en-US" sz="1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true high-risk test cases are caught</a:t>
            </a: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recall is computed on just 4 examples, so should be treated as a direction, not a precise rate.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14" name="Text 11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36038" cy="292608"/>
          </a:xfrm>
          <a:prstGeom prst="roundRect">
            <a:avLst>
              <a:gd name="adj" fmla="val 50000"/>
            </a:avLst>
          </a:prstGeom>
          <a:solidFill>
            <a:srgbClr val="E6EDE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1360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2F5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→ DEPLOYMENT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2354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550" b="1" dirty="0">
                <a:solidFill>
                  <a:srgbClr val="17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cautious decision-support tool, not an automatic verdict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23818" cy="2834640"/>
          </a:xfrm>
          <a:prstGeom prst="roundRect">
            <a:avLst>
              <a:gd name="adj" fmla="val 2903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77824" y="1929384"/>
            <a:ext cx="475488" cy="47548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icons/IoEyeOu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37" y="1991197"/>
            <a:ext cx="351861" cy="3518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2560320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77824" y="2971800"/>
            <a:ext cx="294833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confirms task_completion_rate dominates the prediction, but it should not be read causally.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3938" y="1691640"/>
            <a:ext cx="3423818" cy="2834640"/>
          </a:xfrm>
          <a:prstGeom prst="roundRect">
            <a:avLst>
              <a:gd name="adj" fmla="val 2903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621682" y="1929384"/>
            <a:ext cx="475488" cy="47548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icons/IoShieldCheckmarkOu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496" y="1991197"/>
            <a:ext cx="351861" cy="3518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1682" y="2560320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checks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21682" y="2971800"/>
            <a:ext cx="294833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classic sensitive attributes. Errors and high-risk recall are still checked across day_type, after_hours_work and work-hour bands.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691640"/>
            <a:ext cx="3423818" cy="2834640"/>
          </a:xfrm>
          <a:prstGeom prst="roundRect">
            <a:avLst>
              <a:gd name="adj" fmla="val 2903"/>
            </a:avLst>
          </a:prstGeom>
          <a:solidFill>
            <a:srgbClr val="F4F5F7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8365541" y="1929384"/>
            <a:ext cx="475488" cy="475488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icons/IoRocketOu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354" y="1991197"/>
            <a:ext cx="351861" cy="3518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5541" y="2560320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65541" y="2971800"/>
            <a:ext cx="294833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full pipeline, not just the model. Monitor feature and performance drift. </a:t>
            </a:r>
            <a:b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leakage and fairness audits over time.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80060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4181F"/>
          </a:solidFill>
          <a:ln/>
          <a:effectLst>
            <a:outerShdw blurRad="1143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896112" y="4965192"/>
            <a:ext cx="438912" cy="438912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icons/IoAlertCircleOut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71" y="5022251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80060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real organizational data is required before any operational use — this remains a research-stage pipeline.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A8F9B"/>
                </a:solidFill>
                <a:latin typeface="Calibri" pitchFamily="34" charset="0"/>
                <a:cs typeface="Calibri" pitchFamily="34" charset="-120"/>
              </a:rPr>
              <a:t>WFH Burnout Predictor · Simone Mastria · University of Bologna</a:t>
            </a:r>
          </a:p>
        </p:txBody>
      </p:sp>
      <p:sp>
        <p:nvSpPr>
          <p:cNvPr id="25" name="Text 19"/>
          <p:cNvSpPr/>
          <p:nvPr/>
        </p:nvSpPr>
        <p:spPr>
          <a:xfrm>
            <a:off x="10180015" y="6437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5029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9464040" y="502920"/>
            <a:ext cx="68580" cy="6858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738360" y="5029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0012680" y="5029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287000" y="5029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561320" y="50292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18972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946404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973836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1001268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1028700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10561320" y="77724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918972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946404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973836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10012680" y="1051560"/>
            <a:ext cx="68580" cy="68580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1028700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10561320" y="105156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9189720" y="1325880"/>
            <a:ext cx="68580" cy="68580"/>
          </a:xfrm>
          <a:prstGeom prst="ellipse">
            <a:avLst/>
          </a:prstGeom>
          <a:solidFill>
            <a:srgbClr val="5C8B9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46404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973836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001268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028700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10561320" y="1325880"/>
            <a:ext cx="68580" cy="68580"/>
          </a:xfrm>
          <a:prstGeom prst="ellipse">
            <a:avLst/>
          </a:prstGeom>
          <a:solidFill>
            <a:srgbClr val="2B324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40080" y="548640"/>
            <a:ext cx="1126541" cy="292608"/>
          </a:xfrm>
          <a:prstGeom prst="roundRect">
            <a:avLst>
              <a:gd name="adj" fmla="val 50000"/>
            </a:avLst>
          </a:prstGeom>
          <a:solidFill>
            <a:srgbClr val="1D23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080" y="548640"/>
            <a:ext cx="11265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D8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actually demonstrates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640080" y="1993392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400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16736" y="195681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drives the project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316736" y="2286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but simple data, repeated users, and a rare High-risk class shape every later choice.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2F596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16736" y="279806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conservative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316736" y="3127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grouped end-to-end, so no employee leaks between training and test.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400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16736" y="36393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result is strong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316736" y="39684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 reaches MAE 4.88 and R² 0.936 on employees unseen during training.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517136"/>
            <a:ext cx="457200" cy="457200"/>
          </a:xfrm>
          <a:prstGeom prst="ellipse">
            <a:avLst/>
          </a:prstGeom>
          <a:solidFill>
            <a:srgbClr val="DC5F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008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16736" y="4480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limitation is explicit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1316736" y="48097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leans heavily on </a:t>
            </a:r>
            <a:r>
              <a:rPr lang="en-US" sz="1200" dirty="0" err="1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task_completion_rate</a:t>
            </a: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5358384"/>
            <a:ext cx="457200" cy="457200"/>
          </a:xfrm>
          <a:prstGeom prst="ellipse">
            <a:avLst/>
          </a:prstGeom>
          <a:solidFill>
            <a:srgbClr val="5C8B9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4008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316736" y="53218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1316736" y="56509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predictive pipeline but there is not evidence of causal burnout mechanisms.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2B32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Burnout Predictor · Simone Mastria · University of Bologna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18001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1313</Words>
  <Application>Microsoft Macintosh PowerPoint</Application>
  <PresentationFormat>Widescreen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WFH Burnout Predictor</dc:title>
  <dc:subject>PptxGenJS Presentation</dc:subject>
  <dc:creator>Simone Mastria</dc:creator>
  <cp:lastModifiedBy>Simone Mastria</cp:lastModifiedBy>
  <cp:revision>2</cp:revision>
  <dcterms:created xsi:type="dcterms:W3CDTF">2026-06-20T13:49:22Z</dcterms:created>
  <dcterms:modified xsi:type="dcterms:W3CDTF">2026-06-20T14:14:03Z</dcterms:modified>
</cp:coreProperties>
</file>