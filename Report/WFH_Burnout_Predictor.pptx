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67"/>
    <p:restoredTop sz="94610"/>
  </p:normalViewPr>
  <p:slideViewPr>
    <p:cSldViewPr snapToGrid="0" snapToObjects="1">
      <p:cViewPr varScale="1">
        <p:scale>
          <a:sx n="166" d="100"/>
          <a:sy n="166" d="100"/>
        </p:scale>
        <p:origin x="208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oglio_di_lavoro_di_Microsoft_Excel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oglio_di_lavoro_di_Microsoft_Excel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oglio_di_lavoro_di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rows</c:v>
                </c:pt>
              </c:strCache>
            </c:strRef>
          </c:tx>
          <c:spPr>
            <a:solidFill>
              <a:srgbClr val="2F596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85D-124B-A746-4737EF30611A}"/>
              </c:ext>
            </c:extLst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85D-124B-A746-4737EF30611A}"/>
              </c:ext>
            </c:extLst>
          </c:dPt>
          <c:dPt>
            <c:idx val="2"/>
            <c:invertIfNegative val="0"/>
            <c:bubble3D val="0"/>
            <c:spPr>
              <a:solidFill>
                <a:srgbClr val="DC5F3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85D-124B-A746-4737EF30611A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71A21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Low</c:v>
                </c:pt>
                <c:pt idx="1">
                  <c:v>Medium</c:v>
                </c:pt>
                <c:pt idx="2">
                  <c:v>High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84.8</c:v>
                </c:pt>
                <c:pt idx="1">
                  <c:v>14.1</c:v>
                </c:pt>
                <c:pt idx="2">
                  <c:v>1.1000000000000001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85D-124B-A746-4737EF30611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2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3E5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270"/>
                    </a:solidFill>
                    <a:latin typeface="Arial"/>
                  </a:defRPr>
                </a:pPr>
                <a:r>
                  <a:rPr lang="it-IT" sz="1100" b="0" i="0" u="none" strike="noStrike">
                    <a:solidFill>
                      <a:srgbClr val="5B6270"/>
                    </a:solidFill>
                    <a:latin typeface="Arial"/>
                  </a:rPr>
                  <a:t>% of rows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Correlation with burnout_score</c:v>
                </c:pt>
              </c:strCache>
            </c:strRef>
          </c:tx>
          <c:spPr>
            <a:solidFill>
              <a:srgbClr val="DC5F3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7AB-DB42-82D9-CD322B8678ED}"/>
              </c:ext>
            </c:extLst>
          </c:dPt>
          <c:dPt>
            <c:idx val="1"/>
            <c:invertIfNegative val="0"/>
            <c:bubble3D val="0"/>
            <c:spPr>
              <a:solidFill>
                <a:srgbClr val="5C8B9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7AB-DB42-82D9-CD322B8678ED}"/>
              </c:ext>
            </c:extLst>
          </c:dPt>
          <c:dPt>
            <c:idx val="2"/>
            <c:invertIfNegative val="0"/>
            <c:bubble3D val="0"/>
            <c:spPr>
              <a:solidFill>
                <a:srgbClr val="5C8B9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7AB-DB42-82D9-CD322B8678ED}"/>
              </c:ext>
            </c:extLst>
          </c:dPt>
          <c:dPt>
            <c:idx val="3"/>
            <c:invertIfNegative val="0"/>
            <c:bubble3D val="0"/>
            <c:spPr>
              <a:solidFill>
                <a:srgbClr val="5C8B9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7AB-DB42-82D9-CD322B8678ED}"/>
              </c:ext>
            </c:extLst>
          </c:dPt>
          <c:dPt>
            <c:idx val="4"/>
            <c:invertIfNegative val="0"/>
            <c:bubble3D val="0"/>
            <c:spPr>
              <a:solidFill>
                <a:srgbClr val="5C8B9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7AB-DB42-82D9-CD322B8678ED}"/>
              </c:ext>
            </c:extLst>
          </c:dPt>
          <c:dPt>
            <c:idx val="5"/>
            <c:invertIfNegative val="0"/>
            <c:bubble3D val="0"/>
            <c:spPr>
              <a:solidFill>
                <a:srgbClr val="5C8B9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97AB-DB42-82D9-CD322B8678ED}"/>
              </c:ext>
            </c:extLst>
          </c:dPt>
          <c:dPt>
            <c:idx val="6"/>
            <c:invertIfNegative val="0"/>
            <c:bubble3D val="0"/>
            <c:spPr>
              <a:solidFill>
                <a:srgbClr val="5C8B9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97AB-DB42-82D9-CD322B8678ED}"/>
              </c:ext>
            </c:extLst>
          </c:dPt>
          <c:cat>
            <c:strRef>
              <c:f>Sheet1!$A$2:$A$8</c:f>
              <c:strCache>
                <c:ptCount val="7"/>
                <c:pt idx="0">
                  <c:v>task_completion_rate  (−0.96)</c:v>
                </c:pt>
                <c:pt idx="1">
                  <c:v>sleep_hours  (−0.01)</c:v>
                </c:pt>
                <c:pt idx="2">
                  <c:v>breaks_taken  (0.00)</c:v>
                </c:pt>
                <c:pt idx="3">
                  <c:v>after_hours_work  (0.02)</c:v>
                </c:pt>
                <c:pt idx="4">
                  <c:v>meetings_count  (0.08)</c:v>
                </c:pt>
                <c:pt idx="5">
                  <c:v>work_hours  (0.12)</c:v>
                </c:pt>
                <c:pt idx="6">
                  <c:v>screen_time_hours  (0.12)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-0.96</c:v>
                </c:pt>
                <c:pt idx="1">
                  <c:v>-0.01</c:v>
                </c:pt>
                <c:pt idx="2">
                  <c:v>0</c:v>
                </c:pt>
                <c:pt idx="3">
                  <c:v>0.02</c:v>
                </c:pt>
                <c:pt idx="4">
                  <c:v>0.08</c:v>
                </c:pt>
                <c:pt idx="5">
                  <c:v>0.12</c:v>
                </c:pt>
                <c:pt idx="6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7AB-DB42-82D9-CD322B8678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71A2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3"/>
          <c:min val="-1.1000000000000001"/>
        </c:scaling>
        <c:delete val="0"/>
        <c:axPos val="t"/>
        <c:majorGridlines>
          <c:spPr>
            <a:ln w="9525" cap="flat">
              <a:solidFill>
                <a:srgbClr val="E3E5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270"/>
                    </a:solidFill>
                    <a:latin typeface="Arial"/>
                  </a:defRPr>
                </a:pPr>
                <a:r>
                  <a:rPr lang="it-IT" sz="1100" b="0" i="0" u="none" strike="noStrike">
                    <a:solidFill>
                      <a:srgbClr val="5B6270"/>
                    </a:solidFill>
                    <a:latin typeface="Arial"/>
                  </a:rPr>
                  <a:t>Correlation with burnout_score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MAE</c:v>
                </c:pt>
              </c:strCache>
            </c:strRef>
          </c:tx>
          <c:spPr>
            <a:solidFill>
              <a:srgbClr val="2F596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449-014B-83D7-4D92A576882B}"/>
              </c:ext>
            </c:extLst>
          </c:dPt>
          <c:dPt>
            <c:idx val="1"/>
            <c:invertIfNegative val="0"/>
            <c:bubble3D val="0"/>
            <c:spPr>
              <a:solidFill>
                <a:srgbClr val="DC5F3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449-014B-83D7-4D92A576882B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171A21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All features</c:v>
                </c:pt>
                <c:pt idx="1">
                  <c:v>Without
task_completion_rate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4.88</c:v>
                </c:pt>
                <c:pt idx="1">
                  <c:v>20.260000000000002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449-014B-83D7-4D92A576882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1A2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"/>
          <c:min val="0"/>
        </c:scaling>
        <c:delete val="0"/>
        <c:axPos val="l"/>
        <c:majorGridlines>
          <c:spPr>
            <a:ln w="9525" cap="flat">
              <a:solidFill>
                <a:srgbClr val="E3E5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270"/>
                    </a:solidFill>
                    <a:latin typeface="Arial"/>
                  </a:defRPr>
                </a:pPr>
                <a:r>
                  <a:rPr lang="it-IT" sz="1100" b="0" i="0" u="none" strike="noStrike">
                    <a:solidFill>
                      <a:srgbClr val="5B6270"/>
                    </a:solidFill>
                    <a:latin typeface="Arial"/>
                  </a:rPr>
                  <a:t>Test MAE (Random Forest)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3550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7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9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45"/>
          <p:cNvSpPr/>
          <p:nvPr/>
        </p:nvSpPr>
        <p:spPr>
          <a:xfrm>
            <a:off x="640080" y="868680"/>
            <a:ext cx="3650285" cy="292608"/>
          </a:xfrm>
          <a:prstGeom prst="roundRect">
            <a:avLst>
              <a:gd name="adj" fmla="val 50000"/>
            </a:avLst>
          </a:prstGeom>
          <a:solidFill>
            <a:srgbClr val="1D233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8" name="Text 46"/>
          <p:cNvSpPr/>
          <p:nvPr/>
        </p:nvSpPr>
        <p:spPr>
          <a:xfrm>
            <a:off x="640080" y="868680"/>
            <a:ext cx="365028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D8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&amp; DATA MINING — MODULE 2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4008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WFH Burnout</a:t>
            </a:r>
            <a:endParaRPr lang="en-US" sz="5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Predictor</a:t>
            </a:r>
            <a:endParaRPr lang="en-US" sz="5600" dirty="0"/>
          </a:p>
        </p:txBody>
      </p:sp>
      <p:sp>
        <p:nvSpPr>
          <p:cNvPr id="50" name="Text 48"/>
          <p:cNvSpPr/>
          <p:nvPr/>
        </p:nvSpPr>
        <p:spPr>
          <a:xfrm>
            <a:off x="640080" y="370332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work-from-home burnout score from daily behavioral signals.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640080" y="411480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CRISP-DM regression and classification project, evaluated on employees unseen during training.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40080" y="5788152"/>
            <a:ext cx="4937760" cy="0"/>
          </a:xfrm>
          <a:prstGeom prst="line">
            <a:avLst/>
          </a:prstGeom>
          <a:noFill/>
          <a:ln w="12700">
            <a:solidFill>
              <a:srgbClr val="2B324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3" name="Text 51"/>
          <p:cNvSpPr/>
          <p:nvPr/>
        </p:nvSpPr>
        <p:spPr>
          <a:xfrm>
            <a:off x="640080" y="5989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Bologna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0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Simone Mastria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3566160" y="59893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0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/ 2026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018001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47165" cy="292608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54716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92354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daily behavior predict burnout before it peaks?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burnout_score from work-from-home indicators such as workload, screen time, meetings, breaks, after-hours work, sleep and task completion; evaluated on employees not seen during training.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1A21"/>
                </a:solidFill>
                <a:latin typeface="Calibri" pitchFamily="34" charset="0"/>
                <a:cs typeface="Calibri" pitchFamily="34" charset="-120"/>
              </a:rPr>
              <a:t>Key design decisions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145326"/>
            <a:ext cx="82296" cy="82296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868680" y="2944368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train / test split: no employee appears on both sides.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712254"/>
            <a:ext cx="82296" cy="82296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68680" y="3511296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first: dummy models set the bar before complex ones.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279182"/>
            <a:ext cx="82296" cy="82296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868680" y="4078224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limits: claims are scoped to what the data supports.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1627632"/>
            <a:ext cx="4830775" cy="1115568"/>
          </a:xfrm>
          <a:prstGeom prst="roundRect">
            <a:avLst>
              <a:gd name="adj" fmla="val 7377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6958584" y="1775520"/>
            <a:ext cx="457200" cy="457200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5" name="Image 0" descr="icons/IoLocateOutli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020" y="1834956"/>
            <a:ext cx="338328" cy="33832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562088" y="1837944"/>
            <a:ext cx="37517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task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958584" y="2320332"/>
            <a:ext cx="4355287" cy="27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on </a:t>
            </a:r>
            <a:r>
              <a:rPr lang="en-US" sz="1130" b="1" dirty="0" err="1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burnout_score</a:t>
            </a:r>
            <a:r>
              <a:rPr lang="en-US" sz="113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continuous burnout level for each employee.</a:t>
            </a:r>
            <a:endParaRPr lang="en-US" sz="1130" dirty="0"/>
          </a:p>
        </p:txBody>
      </p:sp>
      <p:sp>
        <p:nvSpPr>
          <p:cNvPr id="18" name="Shape 15"/>
          <p:cNvSpPr/>
          <p:nvPr/>
        </p:nvSpPr>
        <p:spPr>
          <a:xfrm>
            <a:off x="6720840" y="2871216"/>
            <a:ext cx="4830775" cy="1115568"/>
          </a:xfrm>
          <a:prstGeom prst="roundRect">
            <a:avLst>
              <a:gd name="adj" fmla="val 7377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Shape 16"/>
          <p:cNvSpPr/>
          <p:nvPr/>
        </p:nvSpPr>
        <p:spPr>
          <a:xfrm>
            <a:off x="6958584" y="3006158"/>
            <a:ext cx="457200" cy="457200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0" name="Image 1" descr="icons/IoPieChartOutli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020" y="3065594"/>
            <a:ext cx="338328" cy="33832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562088" y="3081528"/>
            <a:ext cx="37517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task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6958584" y="3621024"/>
            <a:ext cx="435528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of </a:t>
            </a:r>
            <a:r>
              <a:rPr lang="en-US" sz="1130" b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burnout_risk </a:t>
            </a:r>
            <a:r>
              <a:rPr lang="en-US" sz="113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(Low / Medium / High), used mainly for interpretation.</a:t>
            </a:r>
            <a:endParaRPr lang="en-US" sz="1130" dirty="0"/>
          </a:p>
        </p:txBody>
      </p:sp>
      <p:sp>
        <p:nvSpPr>
          <p:cNvPr id="23" name="Shape 19"/>
          <p:cNvSpPr/>
          <p:nvPr/>
        </p:nvSpPr>
        <p:spPr>
          <a:xfrm>
            <a:off x="6720840" y="4114800"/>
            <a:ext cx="4830775" cy="1115568"/>
          </a:xfrm>
          <a:prstGeom prst="roundRect">
            <a:avLst>
              <a:gd name="adj" fmla="val 7377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4" name="Shape 20"/>
          <p:cNvSpPr/>
          <p:nvPr/>
        </p:nvSpPr>
        <p:spPr>
          <a:xfrm>
            <a:off x="6958584" y="4238919"/>
            <a:ext cx="457200" cy="457200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5" name="Image 2" descr="icons/IoEyeOutlin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8020" y="4298355"/>
            <a:ext cx="338328" cy="33832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562088" y="4325112"/>
            <a:ext cx="37517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6958584" y="4864608"/>
            <a:ext cx="435528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is technically simple, so the project emphasizes honest data and result understanding.</a:t>
            </a:r>
            <a:endParaRPr lang="en-US" sz="1130" dirty="0"/>
          </a:p>
        </p:txBody>
      </p:sp>
      <p:sp>
        <p:nvSpPr>
          <p:cNvPr id="28" name="Shape 23"/>
          <p:cNvSpPr/>
          <p:nvPr/>
        </p:nvSpPr>
        <p:spPr>
          <a:xfrm>
            <a:off x="640080" y="5394960"/>
            <a:ext cx="10911535" cy="960120"/>
          </a:xfrm>
          <a:prstGeom prst="roundRect">
            <a:avLst>
              <a:gd name="adj" fmla="val 9474"/>
            </a:avLst>
          </a:prstGeom>
          <a:solidFill>
            <a:srgbClr val="EEF0F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Shape 24"/>
          <p:cNvSpPr/>
          <p:nvPr/>
        </p:nvSpPr>
        <p:spPr>
          <a:xfrm>
            <a:off x="1357351" y="5522976"/>
            <a:ext cx="384048" cy="384048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0" name="Image 3" descr="icons/IoBulbOutlin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7277" y="5572902"/>
            <a:ext cx="284196" cy="284196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94944" y="5961888"/>
            <a:ext cx="17088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9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95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n-US" sz="9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2312365" y="5541264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Shape 27"/>
          <p:cNvSpPr/>
          <p:nvPr/>
        </p:nvSpPr>
        <p:spPr>
          <a:xfrm>
            <a:off x="3175940" y="5522976"/>
            <a:ext cx="384048" cy="384048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4" name="Image 4" descr="icons/IoSearchOutlin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5866" y="5572902"/>
            <a:ext cx="284196" cy="284196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2513533" y="5961888"/>
            <a:ext cx="17088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9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n-US" sz="9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4130954" y="5541264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Shape 30"/>
          <p:cNvSpPr/>
          <p:nvPr/>
        </p:nvSpPr>
        <p:spPr>
          <a:xfrm>
            <a:off x="4994529" y="5522976"/>
            <a:ext cx="384048" cy="384048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8" name="Image 5" descr="icons/IoConstructOutlin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4455" y="5572902"/>
            <a:ext cx="284196" cy="28419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4332122" y="5961888"/>
            <a:ext cx="17088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9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n-US" sz="9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</a:t>
            </a:r>
            <a:endParaRPr lang="en-US" sz="950" dirty="0"/>
          </a:p>
        </p:txBody>
      </p:sp>
      <p:sp>
        <p:nvSpPr>
          <p:cNvPr id="40" name="Text 32"/>
          <p:cNvSpPr/>
          <p:nvPr/>
        </p:nvSpPr>
        <p:spPr>
          <a:xfrm>
            <a:off x="5949544" y="5541264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Shape 33"/>
          <p:cNvSpPr/>
          <p:nvPr/>
        </p:nvSpPr>
        <p:spPr>
          <a:xfrm>
            <a:off x="6813118" y="5522976"/>
            <a:ext cx="384048" cy="384048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2" name="Image 6" descr="icons/IoLayersOutli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3044" y="5572902"/>
            <a:ext cx="284196" cy="284196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6150712" y="5961888"/>
            <a:ext cx="17088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9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950" dirty="0"/>
          </a:p>
        </p:txBody>
      </p:sp>
      <p:sp>
        <p:nvSpPr>
          <p:cNvPr id="44" name="Text 35"/>
          <p:cNvSpPr/>
          <p:nvPr/>
        </p:nvSpPr>
        <p:spPr>
          <a:xfrm>
            <a:off x="7768133" y="5541264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5" name="Shape 36"/>
          <p:cNvSpPr/>
          <p:nvPr/>
        </p:nvSpPr>
        <p:spPr>
          <a:xfrm>
            <a:off x="8631707" y="5522976"/>
            <a:ext cx="384048" cy="384048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6" name="Image 7" descr="icons/IoCheckmarkDoneOutline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81634" y="5572902"/>
            <a:ext cx="284196" cy="284196"/>
          </a:xfrm>
          <a:prstGeom prst="rect">
            <a:avLst/>
          </a:prstGeom>
        </p:spPr>
      </p:pic>
      <p:sp>
        <p:nvSpPr>
          <p:cNvPr id="47" name="Text 37"/>
          <p:cNvSpPr/>
          <p:nvPr/>
        </p:nvSpPr>
        <p:spPr>
          <a:xfrm>
            <a:off x="7969301" y="5961888"/>
            <a:ext cx="17088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9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50" dirty="0"/>
          </a:p>
        </p:txBody>
      </p:sp>
      <p:sp>
        <p:nvSpPr>
          <p:cNvPr id="48" name="Text 38"/>
          <p:cNvSpPr/>
          <p:nvPr/>
        </p:nvSpPr>
        <p:spPr>
          <a:xfrm>
            <a:off x="9586722" y="5541264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9" name="Shape 39"/>
          <p:cNvSpPr/>
          <p:nvPr/>
        </p:nvSpPr>
        <p:spPr>
          <a:xfrm>
            <a:off x="10450297" y="5522976"/>
            <a:ext cx="384048" cy="384048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0" name="Image 8" descr="icons/IoRocketOutline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00223" y="5572902"/>
            <a:ext cx="284196" cy="284196"/>
          </a:xfrm>
          <a:prstGeom prst="rect">
            <a:avLst/>
          </a:prstGeom>
        </p:spPr>
      </p:pic>
      <p:sp>
        <p:nvSpPr>
          <p:cNvPr id="51" name="Text 40"/>
          <p:cNvSpPr/>
          <p:nvPr/>
        </p:nvSpPr>
        <p:spPr>
          <a:xfrm>
            <a:off x="9787890" y="5961888"/>
            <a:ext cx="17088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9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50" dirty="0"/>
          </a:p>
        </p:txBody>
      </p:sp>
      <p:sp>
        <p:nvSpPr>
          <p:cNvPr id="52" name="Text 41"/>
          <p:cNvSpPr/>
          <p:nvPr/>
        </p:nvSpPr>
        <p:spPr>
          <a:xfrm>
            <a:off x="64008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A8F9B"/>
                </a:solidFill>
                <a:latin typeface="Calibri" pitchFamily="34" charset="0"/>
                <a:cs typeface="Calibri" pitchFamily="34" charset="-120"/>
              </a:rPr>
              <a:t>WFH Burnout Predictor · Simone Mastria · University of Bologna</a:t>
            </a:r>
          </a:p>
        </p:txBody>
      </p:sp>
      <p:sp>
        <p:nvSpPr>
          <p:cNvPr id="53" name="Text 42"/>
          <p:cNvSpPr/>
          <p:nvPr/>
        </p:nvSpPr>
        <p:spPr>
          <a:xfrm>
            <a:off x="1018001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16">
            <a:extLst>
              <a:ext uri="{FF2B5EF4-FFF2-40B4-BE49-F238E27FC236}">
                <a16:creationId xmlns:a16="http://schemas.microsoft.com/office/drawing/2014/main" id="{6907C558-1D6F-9978-3105-66C36A17C78C}"/>
              </a:ext>
            </a:extLst>
          </p:cNvPr>
          <p:cNvSpPr/>
          <p:nvPr/>
        </p:nvSpPr>
        <p:spPr>
          <a:xfrm>
            <a:off x="640080" y="4069080"/>
            <a:ext cx="6035040" cy="1737360"/>
          </a:xfrm>
          <a:prstGeom prst="roundRect">
            <a:avLst>
              <a:gd name="adj" fmla="val 4737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" name="Shape 0"/>
          <p:cNvSpPr/>
          <p:nvPr/>
        </p:nvSpPr>
        <p:spPr>
          <a:xfrm>
            <a:off x="640080" y="502920"/>
            <a:ext cx="1715414" cy="292608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7154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UNDERSTANDING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92354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clean, repeated-measures dataset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 180 employees contributes 10 daily records, so the identifier is useful for evaluation design (grouping train and test) but not as a predictive feature.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420624" cy="420624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0" descr="icons/IoServerOutli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386401"/>
            <a:ext cx="311262" cy="3112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907792"/>
            <a:ext cx="2487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1,800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40080" y="3456432"/>
            <a:ext cx="248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47974" y="2331720"/>
            <a:ext cx="420624" cy="420624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1" name="Image 1" descr="icons/IoPeopleOutli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655" y="2386401"/>
            <a:ext cx="311262" cy="3112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47974" y="2907792"/>
            <a:ext cx="2487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3447974" y="3456432"/>
            <a:ext cx="248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(users)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55868" y="2331720"/>
            <a:ext cx="420624" cy="420624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5" name="Image 2" descr="icons/IoRepeatOutlin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0549" y="2386401"/>
            <a:ext cx="311262" cy="31126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255868" y="2907792"/>
            <a:ext cx="2487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200" dirty="0"/>
          </a:p>
        </p:txBody>
      </p:sp>
      <p:sp>
        <p:nvSpPr>
          <p:cNvPr id="17" name="Text 12"/>
          <p:cNvSpPr/>
          <p:nvPr/>
        </p:nvSpPr>
        <p:spPr>
          <a:xfrm>
            <a:off x="6255868" y="3456432"/>
            <a:ext cx="248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per user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9063761" y="2331720"/>
            <a:ext cx="420624" cy="420624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9" name="Image 3" descr="icons/IoCheckmarkCircleOutlin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8443" y="2386401"/>
            <a:ext cx="311262" cy="31126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063761" y="2907792"/>
            <a:ext cx="2487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21" name="Text 15"/>
          <p:cNvSpPr/>
          <p:nvPr/>
        </p:nvSpPr>
        <p:spPr>
          <a:xfrm>
            <a:off x="9063761" y="3456432"/>
            <a:ext cx="24878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877824" y="4132316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— 8 daily behavioral signals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877824" y="4477227"/>
            <a:ext cx="910742" cy="310896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19"/>
          <p:cNvSpPr/>
          <p:nvPr/>
        </p:nvSpPr>
        <p:spPr>
          <a:xfrm>
            <a:off x="877824" y="4477227"/>
            <a:ext cx="9107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day_type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1898294" y="4477227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7" name="Text 21"/>
          <p:cNvSpPr/>
          <p:nvPr/>
        </p:nvSpPr>
        <p:spPr>
          <a:xfrm>
            <a:off x="1898294" y="4477227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work_hours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3068726" y="4477227"/>
            <a:ext cx="1585570" cy="310896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Text 23"/>
          <p:cNvSpPr/>
          <p:nvPr/>
        </p:nvSpPr>
        <p:spPr>
          <a:xfrm>
            <a:off x="3068726" y="4477227"/>
            <a:ext cx="15855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screen_time_hours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4764024" y="4477227"/>
            <a:ext cx="1360627" cy="310896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1" name="Text 25"/>
          <p:cNvSpPr/>
          <p:nvPr/>
        </p:nvSpPr>
        <p:spPr>
          <a:xfrm>
            <a:off x="4764024" y="4477227"/>
            <a:ext cx="13606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meetings_count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877824" y="4961859"/>
            <a:ext cx="1210666" cy="310896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3" name="Text 27"/>
          <p:cNvSpPr/>
          <p:nvPr/>
        </p:nvSpPr>
        <p:spPr>
          <a:xfrm>
            <a:off x="877824" y="4961859"/>
            <a:ext cx="1210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breaks_taken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2198218" y="4961859"/>
            <a:ext cx="1510589" cy="310896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5" name="Text 29"/>
          <p:cNvSpPr/>
          <p:nvPr/>
        </p:nvSpPr>
        <p:spPr>
          <a:xfrm>
            <a:off x="2198218" y="4961859"/>
            <a:ext cx="15105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after_hours_work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3818534" y="4961859"/>
            <a:ext cx="1135685" cy="310896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7" name="Text 31"/>
          <p:cNvSpPr/>
          <p:nvPr/>
        </p:nvSpPr>
        <p:spPr>
          <a:xfrm>
            <a:off x="3818534" y="4961859"/>
            <a:ext cx="11356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sleep_hours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877824" y="5395215"/>
            <a:ext cx="1810512" cy="310896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9" name="Text 33"/>
          <p:cNvSpPr/>
          <p:nvPr/>
        </p:nvSpPr>
        <p:spPr>
          <a:xfrm>
            <a:off x="877824" y="5395215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task_completion_rate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995160" y="4069080"/>
            <a:ext cx="4556455" cy="1737360"/>
          </a:xfrm>
          <a:prstGeom prst="roundRect">
            <a:avLst>
              <a:gd name="adj" fmla="val 4737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1" name="Text 35"/>
          <p:cNvSpPr/>
          <p:nvPr/>
        </p:nvSpPr>
        <p:spPr>
          <a:xfrm>
            <a:off x="7232904" y="4251960"/>
            <a:ext cx="4099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</a:t>
            </a:r>
            <a:endParaRPr lang="en-US" sz="1350" dirty="0"/>
          </a:p>
        </p:txBody>
      </p:sp>
      <p:sp>
        <p:nvSpPr>
          <p:cNvPr id="42" name="Shape 36"/>
          <p:cNvSpPr/>
          <p:nvPr/>
        </p:nvSpPr>
        <p:spPr>
          <a:xfrm>
            <a:off x="7232904" y="4745736"/>
            <a:ext cx="100584" cy="100584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3" name="Text 37"/>
          <p:cNvSpPr/>
          <p:nvPr/>
        </p:nvSpPr>
        <p:spPr>
          <a:xfrm>
            <a:off x="7452360" y="4636008"/>
            <a:ext cx="38615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burnout_score</a:t>
            </a:r>
            <a:r>
              <a:rPr lang="en-US" sz="12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continuous · regression target</a:t>
            </a:r>
            <a:endParaRPr lang="en-US" sz="1250" dirty="0"/>
          </a:p>
        </p:txBody>
      </p:sp>
      <p:sp>
        <p:nvSpPr>
          <p:cNvPr id="44" name="Shape 38"/>
          <p:cNvSpPr/>
          <p:nvPr/>
        </p:nvSpPr>
        <p:spPr>
          <a:xfrm>
            <a:off x="7232904" y="5284806"/>
            <a:ext cx="100584" cy="10058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5" name="Text 39"/>
          <p:cNvSpPr/>
          <p:nvPr/>
        </p:nvSpPr>
        <p:spPr>
          <a:xfrm>
            <a:off x="7452360" y="5038344"/>
            <a:ext cx="386151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burnout_risk</a:t>
            </a:r>
            <a:r>
              <a:rPr lang="en-US" sz="12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 / Medium / High · classification target</a:t>
            </a:r>
            <a:endParaRPr lang="en-US" sz="1250" dirty="0"/>
          </a:p>
        </p:txBody>
      </p:sp>
      <p:sp>
        <p:nvSpPr>
          <p:cNvPr id="46" name="Text 40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quality is high: no missing values, no duplicates, valid ranges. But external representativeness beyond this public sample remains unverified.</a:t>
            </a:r>
            <a:endParaRPr lang="en-US" sz="1150" dirty="0"/>
          </a:p>
        </p:txBody>
      </p:sp>
      <p:sp>
        <p:nvSpPr>
          <p:cNvPr id="47" name="Text 41"/>
          <p:cNvSpPr/>
          <p:nvPr/>
        </p:nvSpPr>
        <p:spPr>
          <a:xfrm>
            <a:off x="64008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A8F9B"/>
                </a:solidFill>
                <a:latin typeface="Calibri" pitchFamily="34" charset="0"/>
                <a:cs typeface="Calibri" pitchFamily="34" charset="-120"/>
              </a:rPr>
              <a:t>WFH Burnout Predictor · Simone Mastria · University of Bologna</a:t>
            </a:r>
          </a:p>
        </p:txBody>
      </p:sp>
      <p:sp>
        <p:nvSpPr>
          <p:cNvPr id="48" name="Text 42"/>
          <p:cNvSpPr/>
          <p:nvPr/>
        </p:nvSpPr>
        <p:spPr>
          <a:xfrm>
            <a:off x="1018001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15414" cy="292608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7154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UNDERSTANDING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92354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burnout_risk leans heavily toward Low</a:t>
            </a:r>
            <a:endParaRPr lang="en-US" sz="28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1691640"/>
          <a:ext cx="594360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6903720" y="1783080"/>
            <a:ext cx="4647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903720" y="2318004"/>
            <a:ext cx="82296" cy="82296"/>
          </a:xfrm>
          <a:prstGeom prst="ellipse">
            <a:avLst/>
          </a:prstGeom>
          <a:solidFill>
            <a:srgbClr val="DC5F3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7132320" y="2038038"/>
            <a:ext cx="4419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 rows dominate the dataset — 1,527 of 1,800 rows.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903720" y="3031236"/>
            <a:ext cx="82296" cy="82296"/>
          </a:xfrm>
          <a:prstGeom prst="ellipse">
            <a:avLst/>
          </a:prstGeom>
          <a:solidFill>
            <a:srgbClr val="DC5F3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7132320" y="2751270"/>
            <a:ext cx="4419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appears in only 20 records — about 1.1%.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903720" y="3744468"/>
            <a:ext cx="82296" cy="82296"/>
          </a:xfrm>
          <a:prstGeom prst="ellipse">
            <a:avLst/>
          </a:prstGeom>
          <a:solidFill>
            <a:srgbClr val="DC5F3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7132320" y="3464502"/>
            <a:ext cx="4419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classifier can look accurate while missing the rarest class entirely.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903720" y="4457700"/>
            <a:ext cx="82296" cy="82296"/>
          </a:xfrm>
          <a:prstGeom prst="ellipse">
            <a:avLst/>
          </a:prstGeom>
          <a:solidFill>
            <a:srgbClr val="DC5F3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7132320" y="4177734"/>
            <a:ext cx="4419295" cy="1007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/>
              <a:t>burnout_score is treated as the main target: it drives the regression task and, through fixed thresholds, the risk class.</a:t>
            </a:r>
          </a:p>
          <a:p>
            <a:r>
              <a:rPr lang="en-US" sz="1100" dirty="0"/>
              <a:t>burnout_risk is a deterministic bucketing: Low ≤69.92 | Medium 70.01–109.99 | High ≥110.22 — non-overlapping bands, verified programmatically.</a:t>
            </a:r>
          </a:p>
        </p:txBody>
      </p:sp>
      <p:sp>
        <p:nvSpPr>
          <p:cNvPr id="15" name="Shape 12"/>
          <p:cNvSpPr/>
          <p:nvPr/>
        </p:nvSpPr>
        <p:spPr>
          <a:xfrm>
            <a:off x="6903720" y="5184648"/>
            <a:ext cx="4647895" cy="914400"/>
          </a:xfrm>
          <a:prstGeom prst="roundRect">
            <a:avLst>
              <a:gd name="adj" fmla="val 9000"/>
            </a:avLst>
          </a:prstGeom>
          <a:solidFill>
            <a:srgbClr val="FBEAE2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7141464" y="5330952"/>
            <a:ext cx="4190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84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rows</a:t>
            </a:r>
            <a:endParaRPr lang="en-US" sz="2500" dirty="0"/>
          </a:p>
        </p:txBody>
      </p:sp>
      <p:sp>
        <p:nvSpPr>
          <p:cNvPr id="17" name="Text 14"/>
          <p:cNvSpPr/>
          <p:nvPr/>
        </p:nvSpPr>
        <p:spPr>
          <a:xfrm>
            <a:off x="7141464" y="5715000"/>
            <a:ext cx="4190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1,800 carry the High-risk label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A8F9B"/>
                </a:solidFill>
                <a:latin typeface="Calibri" pitchFamily="34" charset="0"/>
                <a:cs typeface="Calibri" pitchFamily="34" charset="-120"/>
              </a:rPr>
              <a:t>WFH Burnout Predictor · Simone Mastria · University of Bologna</a:t>
            </a:r>
          </a:p>
        </p:txBody>
      </p:sp>
      <p:sp>
        <p:nvSpPr>
          <p:cNvPr id="19" name="Text 16"/>
          <p:cNvSpPr/>
          <p:nvPr/>
        </p:nvSpPr>
        <p:spPr>
          <a:xfrm>
            <a:off x="1018001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15414" cy="292608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7154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UNDERSTANDING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92354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feature carries almost all the signal</a:t>
            </a:r>
            <a:endParaRPr lang="en-US" sz="28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169164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7818120" y="187452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DC5F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−0.96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7818120" y="2542032"/>
            <a:ext cx="37334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u="sng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r>
              <a:rPr lang="en-US" sz="130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task_completion_rate and </a:t>
            </a:r>
            <a:r>
              <a:rPr lang="en-US" sz="1300" b="1" dirty="0" err="1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burnout_score</a:t>
            </a:r>
            <a:r>
              <a:rPr lang="en-US" sz="130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3429000"/>
            <a:ext cx="3733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useful for prediction, but it is also the main warning sign of the project: the feature may sit very close to the logic that generated the target in the first place.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r>
              <a:rPr sz="1200" dirty="0">
                <a:solidFill>
                  <a:srgbClr val="5B6270"/>
                </a:solidFill>
              </a:rPr>
              <a:t>A univariate Ridge on </a:t>
            </a:r>
            <a:r>
              <a:rPr sz="1200" dirty="0" err="1">
                <a:solidFill>
                  <a:srgbClr val="5B6270"/>
                </a:solidFill>
              </a:rPr>
              <a:t>task_completion_rate</a:t>
            </a:r>
            <a:r>
              <a:rPr sz="1200" dirty="0">
                <a:solidFill>
                  <a:srgbClr val="5B6270"/>
                </a:solidFill>
              </a:rPr>
              <a:t> alone reaches test R²=0.934; the full 13-feature model achieves R²=0.936.</a:t>
            </a:r>
          </a:p>
        </p:txBody>
      </p:sp>
      <p:sp>
        <p:nvSpPr>
          <p:cNvPr id="9" name="Shape 6"/>
          <p:cNvSpPr/>
          <p:nvPr/>
        </p:nvSpPr>
        <p:spPr>
          <a:xfrm>
            <a:off x="7818120" y="4892040"/>
            <a:ext cx="3733495" cy="868680"/>
          </a:xfrm>
          <a:prstGeom prst="roundRect">
            <a:avLst>
              <a:gd name="adj" fmla="val 9474"/>
            </a:avLst>
          </a:prstGeom>
          <a:solidFill>
            <a:srgbClr val="E6EDEF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8019288" y="5010912"/>
            <a:ext cx="33311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predictors stay within ±0.12 — a much weaker, more plausible behavioral signal.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A8F9B"/>
                </a:solidFill>
                <a:latin typeface="Calibri" pitchFamily="34" charset="0"/>
                <a:cs typeface="Calibri" pitchFamily="34" charset="-120"/>
              </a:rPr>
              <a:t>WFH Burnout Predictor · Simone Mastria · University of Bologna</a:t>
            </a:r>
          </a:p>
        </p:txBody>
      </p:sp>
      <p:sp>
        <p:nvSpPr>
          <p:cNvPr id="12" name="Text 9"/>
          <p:cNvSpPr/>
          <p:nvPr/>
        </p:nvSpPr>
        <p:spPr>
          <a:xfrm>
            <a:off x="1018001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47165" cy="292608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54716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92354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split is designed around people, not rows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same employee appeared in both train and test, the model could memorize personal baselines instead of learning generalizable patterns.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3423818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877824" y="2432304"/>
            <a:ext cx="457200" cy="457200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0" descr="icons/IoBanOutli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2491740"/>
            <a:ext cx="338328" cy="3383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81328" y="2404872"/>
            <a:ext cx="23448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77824" y="2944368"/>
            <a:ext cx="29483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is never used as a predictor — it has no generalizable meaning.</a:t>
            </a:r>
            <a:endParaRPr lang="en-US" sz="1130" dirty="0"/>
          </a:p>
        </p:txBody>
      </p:sp>
      <p:sp>
        <p:nvSpPr>
          <p:cNvPr id="11" name="Shape 8"/>
          <p:cNvSpPr/>
          <p:nvPr/>
        </p:nvSpPr>
        <p:spPr>
          <a:xfrm>
            <a:off x="4383938" y="2194560"/>
            <a:ext cx="3423818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9"/>
          <p:cNvSpPr/>
          <p:nvPr/>
        </p:nvSpPr>
        <p:spPr>
          <a:xfrm>
            <a:off x="4621682" y="2432304"/>
            <a:ext cx="457200" cy="457200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1" descr="icons/IoGitBranchOutli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118" y="2491740"/>
            <a:ext cx="338328" cy="3383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25186" y="2404872"/>
            <a:ext cx="23448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split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621682" y="2944368"/>
            <a:ext cx="29483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from the same employee stay entirely in train or entirely in test.</a:t>
            </a:r>
            <a:endParaRPr lang="en-US" sz="1130" dirty="0"/>
          </a:p>
        </p:txBody>
      </p:sp>
      <p:sp>
        <p:nvSpPr>
          <p:cNvPr id="16" name="Shape 12"/>
          <p:cNvSpPr/>
          <p:nvPr/>
        </p:nvSpPr>
        <p:spPr>
          <a:xfrm>
            <a:off x="8127797" y="2194560"/>
            <a:ext cx="3423818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Shape 13"/>
          <p:cNvSpPr/>
          <p:nvPr/>
        </p:nvSpPr>
        <p:spPr>
          <a:xfrm>
            <a:off x="8365541" y="2432304"/>
            <a:ext cx="457200" cy="457200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8" name="Image 2" descr="icons/IoFilterOutlin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4977" y="2491740"/>
            <a:ext cx="338328" cy="3383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69045" y="2404872"/>
            <a:ext cx="23448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365541" y="2944368"/>
            <a:ext cx="29483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Encoding, scaling and model fitting all run inside scikit-learn pipelines.</a:t>
            </a:r>
            <a:endParaRPr lang="en-US" sz="1130" dirty="0"/>
          </a:p>
        </p:txBody>
      </p:sp>
      <p:sp>
        <p:nvSpPr>
          <p:cNvPr id="21" name="Text 16"/>
          <p:cNvSpPr/>
          <p:nvPr/>
        </p:nvSpPr>
        <p:spPr>
          <a:xfrm>
            <a:off x="640080" y="3886200"/>
            <a:ext cx="34238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1,440 / 360</a:t>
            </a:r>
            <a:endParaRPr lang="en-US" sz="2800" dirty="0"/>
          </a:p>
        </p:txBody>
      </p:sp>
      <p:sp>
        <p:nvSpPr>
          <p:cNvPr id="22" name="Text 17"/>
          <p:cNvSpPr/>
          <p:nvPr/>
        </p:nvSpPr>
        <p:spPr>
          <a:xfrm>
            <a:off x="640080" y="43891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rows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4383938" y="3886200"/>
            <a:ext cx="34238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 / 36</a:t>
            </a:r>
            <a:endParaRPr lang="en-US" sz="2800" dirty="0"/>
          </a:p>
        </p:txBody>
      </p:sp>
      <p:sp>
        <p:nvSpPr>
          <p:cNvPr id="24" name="Text 19"/>
          <p:cNvSpPr/>
          <p:nvPr/>
        </p:nvSpPr>
        <p:spPr>
          <a:xfrm>
            <a:off x="4383938" y="43891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users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8127797" y="3886200"/>
            <a:ext cx="34238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800" dirty="0"/>
          </a:p>
        </p:txBody>
      </p:sp>
      <p:sp>
        <p:nvSpPr>
          <p:cNvPr id="26" name="Text 21"/>
          <p:cNvSpPr/>
          <p:nvPr/>
        </p:nvSpPr>
        <p:spPr>
          <a:xfrm>
            <a:off x="8127797" y="43891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users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628751" y="5045798"/>
            <a:ext cx="10911535" cy="1325880"/>
          </a:xfrm>
          <a:prstGeom prst="roundRect">
            <a:avLst>
              <a:gd name="adj" fmla="val 6207"/>
            </a:avLst>
          </a:prstGeom>
          <a:solidFill>
            <a:srgbClr val="EEF0F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8" name="Text 23"/>
          <p:cNvSpPr/>
          <p:nvPr/>
        </p:nvSpPr>
        <p:spPr>
          <a:xfrm>
            <a:off x="877824" y="5074920"/>
            <a:ext cx="104543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features: interpretable workload-pressure signals</a:t>
            </a:r>
            <a:endParaRPr lang="en-US" sz="1300" dirty="0"/>
          </a:p>
        </p:txBody>
      </p: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595E7CE1-EE1C-4A1D-BD48-9FD8862B464F}"/>
              </a:ext>
            </a:extLst>
          </p:cNvPr>
          <p:cNvGrpSpPr/>
          <p:nvPr/>
        </p:nvGrpSpPr>
        <p:grpSpPr>
          <a:xfrm>
            <a:off x="937260" y="5466603"/>
            <a:ext cx="1850176" cy="705960"/>
            <a:chOff x="2696279" y="5437008"/>
            <a:chExt cx="1850176" cy="705960"/>
          </a:xfrm>
        </p:grpSpPr>
        <p:sp>
          <p:nvSpPr>
            <p:cNvPr id="29" name="Shape 24"/>
            <p:cNvSpPr/>
            <p:nvPr/>
          </p:nvSpPr>
          <p:spPr>
            <a:xfrm>
              <a:off x="2696279" y="5458968"/>
              <a:ext cx="1850176" cy="684000"/>
            </a:xfrm>
            <a:prstGeom prst="roundRect">
              <a:avLst>
                <a:gd name="adj" fmla="val 50000"/>
              </a:avLst>
            </a:prstGeom>
            <a:solidFill>
              <a:srgbClr val="E6EDEF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Text 25"/>
            <p:cNvSpPr/>
            <p:nvPr/>
          </p:nvSpPr>
          <p:spPr>
            <a:xfrm>
              <a:off x="2963544" y="5437008"/>
              <a:ext cx="1360627" cy="684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F596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work_intensity</a:t>
              </a:r>
              <a:endParaRPr lang="en-US" sz="1100" dirty="0"/>
            </a:p>
            <a:p>
              <a:r>
                <a:rPr sz="900" i="1" dirty="0" err="1">
                  <a:solidFill>
                    <a:srgbClr val="646464"/>
                  </a:solidFill>
                </a:rPr>
                <a:t>work_hours</a:t>
              </a:r>
              <a:r>
                <a:rPr sz="900" i="1" dirty="0">
                  <a:solidFill>
                    <a:srgbClr val="646464"/>
                  </a:solidFill>
                </a:rPr>
                <a:t> ÷ </a:t>
              </a:r>
              <a:r>
                <a:rPr sz="900" i="1" dirty="0" err="1">
                  <a:solidFill>
                    <a:srgbClr val="646464"/>
                  </a:solidFill>
                </a:rPr>
                <a:t>breaks_taken</a:t>
              </a:r>
              <a:r>
                <a:rPr sz="900" i="1" dirty="0">
                  <a:solidFill>
                    <a:srgbClr val="646464"/>
                  </a:solidFill>
                </a:rPr>
                <a:t>  →  net work pressure</a:t>
              </a:r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4F720856-6415-96FC-A91C-8D5E3EB3DBC2}"/>
              </a:ext>
            </a:extLst>
          </p:cNvPr>
          <p:cNvGrpSpPr/>
          <p:nvPr/>
        </p:nvGrpSpPr>
        <p:grpSpPr>
          <a:xfrm>
            <a:off x="5212391" y="5486764"/>
            <a:ext cx="1994815" cy="703088"/>
            <a:chOff x="2259867" y="5458058"/>
            <a:chExt cx="1994815" cy="703088"/>
          </a:xfrm>
        </p:grpSpPr>
        <p:sp>
          <p:nvSpPr>
            <p:cNvPr id="31" name="Shape 26"/>
            <p:cNvSpPr/>
            <p:nvPr/>
          </p:nvSpPr>
          <p:spPr>
            <a:xfrm>
              <a:off x="2259867" y="5458058"/>
              <a:ext cx="1994815" cy="684000"/>
            </a:xfrm>
            <a:prstGeom prst="roundRect">
              <a:avLst>
                <a:gd name="adj" fmla="val 50000"/>
              </a:avLst>
            </a:prstGeom>
            <a:solidFill>
              <a:srgbClr val="E6EDEF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Text 27"/>
            <p:cNvSpPr/>
            <p:nvPr/>
          </p:nvSpPr>
          <p:spPr>
            <a:xfrm>
              <a:off x="2560922" y="5477146"/>
              <a:ext cx="1585570" cy="684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F596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screen_work_ratio</a:t>
              </a:r>
              <a:endParaRPr lang="en-US" sz="1100" dirty="0"/>
            </a:p>
            <a:p>
              <a:r>
                <a:rPr sz="900" i="1" dirty="0" err="1">
                  <a:solidFill>
                    <a:srgbClr val="646464"/>
                  </a:solidFill>
                </a:rPr>
                <a:t>screen_time</a:t>
              </a:r>
              <a:r>
                <a:rPr sz="900" i="1" dirty="0">
                  <a:solidFill>
                    <a:srgbClr val="646464"/>
                  </a:solidFill>
                </a:rPr>
                <a:t> ÷ </a:t>
              </a:r>
              <a:r>
                <a:rPr sz="900" i="1" dirty="0" err="1">
                  <a:solidFill>
                    <a:srgbClr val="646464"/>
                  </a:solidFill>
                </a:rPr>
                <a:t>work_hours</a:t>
              </a:r>
              <a:r>
                <a:rPr sz="900" i="1" dirty="0">
                  <a:solidFill>
                    <a:srgbClr val="646464"/>
                  </a:solidFill>
                </a:rPr>
                <a:t>  →  display exposure rate</a:t>
              </a:r>
            </a:p>
          </p:txBody>
        </p:sp>
      </p:grp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CA117266-D810-BF86-5610-DAAB230EB75C}"/>
              </a:ext>
            </a:extLst>
          </p:cNvPr>
          <p:cNvGrpSpPr/>
          <p:nvPr/>
        </p:nvGrpSpPr>
        <p:grpSpPr>
          <a:xfrm>
            <a:off x="3074825" y="5487674"/>
            <a:ext cx="1850177" cy="705960"/>
            <a:chOff x="4043476" y="5437008"/>
            <a:chExt cx="1850177" cy="705960"/>
          </a:xfrm>
        </p:grpSpPr>
        <p:sp>
          <p:nvSpPr>
            <p:cNvPr id="33" name="Shape 28"/>
            <p:cNvSpPr/>
            <p:nvPr/>
          </p:nvSpPr>
          <p:spPr>
            <a:xfrm>
              <a:off x="4043476" y="5458968"/>
              <a:ext cx="1850177" cy="684000"/>
            </a:xfrm>
            <a:prstGeom prst="roundRect">
              <a:avLst>
                <a:gd name="adj" fmla="val 50000"/>
              </a:avLst>
            </a:prstGeom>
            <a:solidFill>
              <a:srgbClr val="E6EDEF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Text 29"/>
            <p:cNvSpPr/>
            <p:nvPr/>
          </p:nvSpPr>
          <p:spPr>
            <a:xfrm>
              <a:off x="4301642" y="5437008"/>
              <a:ext cx="1435608" cy="684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F596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meeting_density</a:t>
              </a:r>
              <a:endParaRPr lang="en-US" sz="1100" dirty="0"/>
            </a:p>
            <a:p>
              <a:r>
                <a:rPr sz="900" i="1" dirty="0">
                  <a:solidFill>
                    <a:srgbClr val="646464"/>
                  </a:solidFill>
                </a:rPr>
                <a:t>meetings ÷ </a:t>
              </a:r>
              <a:r>
                <a:rPr sz="900" i="1" dirty="0" err="1">
                  <a:solidFill>
                    <a:srgbClr val="646464"/>
                  </a:solidFill>
                </a:rPr>
                <a:t>work_hours</a:t>
              </a:r>
              <a:r>
                <a:rPr sz="900" i="1" dirty="0">
                  <a:solidFill>
                    <a:srgbClr val="646464"/>
                  </a:solidFill>
                </a:rPr>
                <a:t>  →  interruptions per hour</a:t>
              </a:r>
            </a:p>
          </p:txBody>
        </p:sp>
      </p:grpSp>
      <p:grpSp>
        <p:nvGrpSpPr>
          <p:cNvPr id="41" name="Gruppo 40">
            <a:extLst>
              <a:ext uri="{FF2B5EF4-FFF2-40B4-BE49-F238E27FC236}">
                <a16:creationId xmlns:a16="http://schemas.microsoft.com/office/drawing/2014/main" id="{14E70B0A-320D-56CF-6332-581364DEF355}"/>
              </a:ext>
            </a:extLst>
          </p:cNvPr>
          <p:cNvGrpSpPr/>
          <p:nvPr/>
        </p:nvGrpSpPr>
        <p:grpSpPr>
          <a:xfrm>
            <a:off x="7494595" y="5466603"/>
            <a:ext cx="1557338" cy="684000"/>
            <a:chOff x="5588813" y="5458968"/>
            <a:chExt cx="1557338" cy="684000"/>
          </a:xfrm>
        </p:grpSpPr>
        <p:sp>
          <p:nvSpPr>
            <p:cNvPr id="35" name="Shape 30"/>
            <p:cNvSpPr/>
            <p:nvPr/>
          </p:nvSpPr>
          <p:spPr>
            <a:xfrm>
              <a:off x="5588813" y="5458968"/>
              <a:ext cx="1557338" cy="684000"/>
            </a:xfrm>
            <a:prstGeom prst="roundRect">
              <a:avLst>
                <a:gd name="adj" fmla="val 50000"/>
              </a:avLst>
            </a:prstGeom>
            <a:solidFill>
              <a:srgbClr val="E6EDEF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Text 31"/>
            <p:cNvSpPr/>
            <p:nvPr/>
          </p:nvSpPr>
          <p:spPr>
            <a:xfrm>
              <a:off x="5754776" y="5458968"/>
              <a:ext cx="1285646" cy="684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F596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sleep_deficit</a:t>
              </a:r>
              <a:endParaRPr lang="en-US" sz="1100" dirty="0"/>
            </a:p>
            <a:p>
              <a:r>
                <a:rPr sz="900" i="1" dirty="0">
                  <a:solidFill>
                    <a:srgbClr val="646464"/>
                  </a:solidFill>
                </a:rPr>
                <a:t>max(0, 7 − </a:t>
              </a:r>
              <a:r>
                <a:rPr sz="900" i="1" dirty="0" err="1">
                  <a:solidFill>
                    <a:srgbClr val="646464"/>
                  </a:solidFill>
                </a:rPr>
                <a:t>sleep_hours</a:t>
              </a:r>
              <a:r>
                <a:rPr sz="900" i="1" dirty="0">
                  <a:solidFill>
                    <a:srgbClr val="646464"/>
                  </a:solidFill>
                </a:rPr>
                <a:t>)  →  hours below 7h threshold</a:t>
              </a:r>
            </a:p>
          </p:txBody>
        </p:sp>
      </p:grp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3810414D-CDBE-5DE1-30CA-3F158B6FD51C}"/>
              </a:ext>
            </a:extLst>
          </p:cNvPr>
          <p:cNvGrpSpPr/>
          <p:nvPr/>
        </p:nvGrpSpPr>
        <p:grpSpPr>
          <a:xfrm>
            <a:off x="9339321" y="5433226"/>
            <a:ext cx="1457553" cy="733392"/>
            <a:chOff x="8763304" y="5305320"/>
            <a:chExt cx="1457553" cy="733392"/>
          </a:xfrm>
        </p:grpSpPr>
        <p:sp>
          <p:nvSpPr>
            <p:cNvPr id="37" name="Shape 32"/>
            <p:cNvSpPr/>
            <p:nvPr/>
          </p:nvSpPr>
          <p:spPr>
            <a:xfrm>
              <a:off x="8763304" y="5354712"/>
              <a:ext cx="1457553" cy="684000"/>
            </a:xfrm>
            <a:prstGeom prst="roundRect">
              <a:avLst>
                <a:gd name="adj" fmla="val 50000"/>
              </a:avLst>
            </a:prstGeom>
            <a:solidFill>
              <a:srgbClr val="E6EDEF"/>
            </a:solidFill>
            <a:ln/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Text 33"/>
            <p:cNvSpPr/>
            <p:nvPr/>
          </p:nvSpPr>
          <p:spPr>
            <a:xfrm>
              <a:off x="8855812" y="5305320"/>
              <a:ext cx="1285646" cy="684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2F596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overwork_flag</a:t>
              </a:r>
              <a:endParaRPr lang="en-US" sz="1100" dirty="0"/>
            </a:p>
            <a:p>
              <a:r>
                <a:rPr sz="900" i="1" dirty="0">
                  <a:solidFill>
                    <a:srgbClr val="646464"/>
                  </a:solidFill>
                </a:rPr>
                <a:t>1 if </a:t>
              </a:r>
              <a:r>
                <a:rPr sz="900" i="1" dirty="0" err="1">
                  <a:solidFill>
                    <a:srgbClr val="646464"/>
                  </a:solidFill>
                </a:rPr>
                <a:t>work_hours</a:t>
              </a:r>
              <a:r>
                <a:rPr sz="900" i="1" dirty="0">
                  <a:solidFill>
                    <a:srgbClr val="646464"/>
                  </a:solidFill>
                </a:rPr>
                <a:t> &gt; 8, else 0</a:t>
              </a:r>
            </a:p>
          </p:txBody>
        </p:sp>
      </p:grpSp>
      <p:sp>
        <p:nvSpPr>
          <p:cNvPr id="39" name="Text 34"/>
          <p:cNvSpPr/>
          <p:nvPr/>
        </p:nvSpPr>
        <p:spPr>
          <a:xfrm>
            <a:off x="64008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A8F9B"/>
                </a:solidFill>
                <a:latin typeface="Calibri" pitchFamily="34" charset="0"/>
                <a:cs typeface="Calibri" pitchFamily="34" charset="-120"/>
              </a:rPr>
              <a:t>WFH Burnout Predictor · Simone Mastria · University of Bologna</a:t>
            </a:r>
          </a:p>
        </p:txBody>
      </p:sp>
      <p:sp>
        <p:nvSpPr>
          <p:cNvPr id="40" name="Text 35"/>
          <p:cNvSpPr/>
          <p:nvPr/>
        </p:nvSpPr>
        <p:spPr>
          <a:xfrm>
            <a:off x="1018001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874166" cy="292608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8741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92354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 first, then increasingly complex models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2522144" cy="1512720"/>
          </a:xfrm>
          <a:prstGeom prst="roundRect">
            <a:avLst>
              <a:gd name="adj" fmla="val 7031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877824" y="1777077"/>
            <a:ext cx="457200" cy="457200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0" descr="icons/IoFlagOutli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1836513"/>
            <a:ext cx="338328" cy="3383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1856232"/>
            <a:ext cx="1443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6689" y="2367592"/>
            <a:ext cx="2307101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/>
              <a:t>DummyRegressor predicts the training-set median. </a:t>
            </a:r>
            <a:br>
              <a:rPr lang="en-US" sz="1100" dirty="0"/>
            </a:br>
            <a:r>
              <a:rPr lang="en-US" sz="1100" dirty="0"/>
              <a:t>Sets the performance floor: CV MAE 18.49. Any model failing to beat this is useless.</a:t>
            </a:r>
          </a:p>
        </p:txBody>
      </p:sp>
      <p:sp>
        <p:nvSpPr>
          <p:cNvPr id="10" name="Shape 7"/>
          <p:cNvSpPr/>
          <p:nvPr/>
        </p:nvSpPr>
        <p:spPr>
          <a:xfrm>
            <a:off x="3436544" y="1645920"/>
            <a:ext cx="2522144" cy="1512720"/>
          </a:xfrm>
          <a:prstGeom prst="roundRect">
            <a:avLst>
              <a:gd name="adj" fmla="val 7031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3674288" y="1777077"/>
            <a:ext cx="457200" cy="457200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1" descr="icons/IoTrendingDownOutli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724" y="1836513"/>
            <a:ext cx="338328" cy="3383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77792" y="1856232"/>
            <a:ext cx="1443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30991" y="2353524"/>
            <a:ext cx="2342271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/>
              <a:t>Ridge adds L2 regularisation to prevent unstable coefficients when features correlate. </a:t>
            </a:r>
            <a:br>
              <a:rPr lang="en-US" sz="1100" dirty="0"/>
            </a:br>
            <a:r>
              <a:rPr lang="en-US" sz="1100" dirty="0"/>
              <a:t>The CV MAE 5.06 confirms the signal is mostly linear.</a:t>
            </a:r>
          </a:p>
        </p:txBody>
      </p:sp>
      <p:sp>
        <p:nvSpPr>
          <p:cNvPr id="15" name="Shape 11"/>
          <p:cNvSpPr/>
          <p:nvPr/>
        </p:nvSpPr>
        <p:spPr>
          <a:xfrm>
            <a:off x="6233008" y="1645920"/>
            <a:ext cx="2522144" cy="1553778"/>
          </a:xfrm>
          <a:prstGeom prst="roundRect">
            <a:avLst>
              <a:gd name="adj" fmla="val 7031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2"/>
          <p:cNvSpPr/>
          <p:nvPr/>
        </p:nvSpPr>
        <p:spPr>
          <a:xfrm>
            <a:off x="6470752" y="1777077"/>
            <a:ext cx="457200" cy="457200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7" name="Image 2" descr="icons/IoLayersOutlin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0188" y="1836513"/>
            <a:ext cx="338328" cy="33832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74256" y="1856232"/>
            <a:ext cx="1443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69582" y="2282310"/>
            <a:ext cx="2522145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Random Forest: 300 trees on bootstrap samples, averaged for lower variance.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Hist Gradient Boosting: sequential trees, each correcting the previous residuals.</a:t>
            </a:r>
          </a:p>
        </p:txBody>
      </p:sp>
      <p:sp>
        <p:nvSpPr>
          <p:cNvPr id="20" name="Shape 15"/>
          <p:cNvSpPr/>
          <p:nvPr/>
        </p:nvSpPr>
        <p:spPr>
          <a:xfrm>
            <a:off x="9029471" y="1645920"/>
            <a:ext cx="2522144" cy="1553778"/>
          </a:xfrm>
          <a:prstGeom prst="roundRect">
            <a:avLst>
              <a:gd name="adj" fmla="val 7031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6"/>
          <p:cNvSpPr/>
          <p:nvPr/>
        </p:nvSpPr>
        <p:spPr>
          <a:xfrm>
            <a:off x="9267215" y="1777077"/>
            <a:ext cx="457200" cy="457200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2" name="Image 3" descr="icons/IoGitBranchOutlin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651" y="1836513"/>
            <a:ext cx="338328" cy="33832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870719" y="1856232"/>
            <a:ext cx="1443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122898" y="2395728"/>
            <a:ext cx="2343291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/>
              <a:t>5-fold GroupKFold keeps user grouping intact inside each fold using same constraint as the main split, preventing any employee from leaking across validation boundaries.</a:t>
            </a:r>
          </a:p>
        </p:txBody>
      </p:sp>
      <p:sp>
        <p:nvSpPr>
          <p:cNvPr id="25" name="Text 19"/>
          <p:cNvSpPr/>
          <p:nvPr/>
        </p:nvSpPr>
        <p:spPr>
          <a:xfrm>
            <a:off x="640080" y="319969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comparison (training set, GroupKFold)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83864"/>
          <a:ext cx="10911535" cy="2194560"/>
        </p:xfrm>
        <a:graphic>
          <a:graphicData uri="http://schemas.openxmlformats.org/drawingml/2006/table">
            <a:tbl>
              <a:tblPr/>
              <a:tblGrid>
                <a:gridCol w="6888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MAE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 Gradient Boosting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Dummy (median)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" name="Text 20"/>
          <p:cNvSpPr/>
          <p:nvPr/>
        </p:nvSpPr>
        <p:spPr>
          <a:xfrm>
            <a:off x="640080" y="5788152"/>
            <a:ext cx="10911535" cy="3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/>
              <a:t>Random Forest wins on CV (MAE 4.89) and is selected for tuning. </a:t>
            </a:r>
          </a:p>
          <a:p>
            <a:r>
              <a:rPr lang="en-US" sz="1100" dirty="0"/>
              <a:t>KNN scores 9.05: with 13 scaled features, training points become nearly equidistant and local neighbourhoods lose predictive meaning.</a:t>
            </a:r>
          </a:p>
        </p:txBody>
      </p:sp>
      <p:sp>
        <p:nvSpPr>
          <p:cNvPr id="28" name="Text 21"/>
          <p:cNvSpPr/>
          <p:nvPr/>
        </p:nvSpPr>
        <p:spPr>
          <a:xfrm>
            <a:off x="64008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A8F9B"/>
                </a:solidFill>
                <a:latin typeface="Calibri" pitchFamily="34" charset="0"/>
                <a:cs typeface="Calibri" pitchFamily="34" charset="-120"/>
              </a:rPr>
              <a:t>WFH Burnout Predictor · Simone Mastria · University of Bologna</a:t>
            </a:r>
          </a:p>
        </p:txBody>
      </p:sp>
      <p:sp>
        <p:nvSpPr>
          <p:cNvPr id="29" name="Text 22"/>
          <p:cNvSpPr/>
          <p:nvPr/>
        </p:nvSpPr>
        <p:spPr>
          <a:xfrm>
            <a:off x="1018001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92354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meaningful models clear the dummy baseline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6812280" cy="2523744"/>
        </p:xfrm>
        <a:graphic>
          <a:graphicData uri="http://schemas.openxmlformats.org/drawingml/2006/table">
            <a:tbl>
              <a:tblPr/>
              <a:tblGrid>
                <a:gridCol w="3794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 Gradient Boosting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Dummy (median)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25112"/>
            <a:ext cx="681228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Test-set results before hyperparameter tuning.</a:t>
            </a:r>
          </a:p>
        </p:txBody>
      </p:sp>
      <p:sp>
        <p:nvSpPr>
          <p:cNvPr id="7" name="Shape 4"/>
          <p:cNvSpPr/>
          <p:nvPr/>
        </p:nvSpPr>
        <p:spPr>
          <a:xfrm>
            <a:off x="7863840" y="1691639"/>
            <a:ext cx="3687775" cy="4440219"/>
          </a:xfrm>
          <a:prstGeom prst="roundRect">
            <a:avLst>
              <a:gd name="adj" fmla="val 2232"/>
            </a:avLst>
          </a:prstGeom>
          <a:solidFill>
            <a:srgbClr val="14181F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8138160" y="192024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MODEL</a:t>
            </a:r>
            <a:endParaRPr lang="en-US" sz="1100" dirty="0"/>
          </a:p>
        </p:txBody>
      </p:sp>
      <p:sp>
        <p:nvSpPr>
          <p:cNvPr id="5" name="Text 6"/>
          <p:cNvSpPr/>
          <p:nvPr/>
        </p:nvSpPr>
        <p:spPr>
          <a:xfrm>
            <a:off x="8138160" y="2194560"/>
            <a:ext cx="3139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 Regressor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138160" y="2788920"/>
            <a:ext cx="3139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4.84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8138160" y="3374136"/>
            <a:ext cx="3139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90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138160" y="3611880"/>
            <a:ext cx="3139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6.26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8138160" y="4197096"/>
            <a:ext cx="3139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90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RMSE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138160" y="4434840"/>
            <a:ext cx="3139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0.935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8138160" y="5020056"/>
            <a:ext cx="3139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90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138160" y="5285232"/>
            <a:ext cx="3139135" cy="0"/>
          </a:xfrm>
          <a:prstGeom prst="line">
            <a:avLst/>
          </a:prstGeom>
          <a:noFill/>
          <a:ln w="12700">
            <a:solidFill>
              <a:srgbClr val="2B324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4"/>
          <p:cNvSpPr/>
          <p:nvPr/>
        </p:nvSpPr>
        <p:spPr>
          <a:xfrm>
            <a:off x="8138160" y="5395207"/>
            <a:ext cx="3139135" cy="539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chemeClr val="bg1"/>
                </a:solidFill>
              </a:rPr>
              <a:t>Params: n_estimators=200 · max_features=0.7 · min_samples_leaf=4 · max_depth=None.</a:t>
            </a:r>
          </a:p>
        </p:txBody>
      </p:sp>
      <p:sp>
        <p:nvSpPr>
          <p:cNvPr id="18" name="Text 15"/>
          <p:cNvSpPr/>
          <p:nvPr/>
        </p:nvSpPr>
        <p:spPr>
          <a:xfrm>
            <a:off x="64008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A8F9B"/>
                </a:solidFill>
                <a:latin typeface="Calibri" pitchFamily="34" charset="0"/>
                <a:cs typeface="Calibri" pitchFamily="34" charset="-120"/>
              </a:rPr>
              <a:t>WFH Burnout Predictor · Simone Mastria · University of Bologna</a:t>
            </a:r>
          </a:p>
        </p:txBody>
      </p:sp>
      <p:sp>
        <p:nvSpPr>
          <p:cNvPr id="19" name="Text 16"/>
          <p:cNvSpPr/>
          <p:nvPr/>
        </p:nvSpPr>
        <p:spPr>
          <a:xfrm>
            <a:off x="1018001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83664" cy="292608"/>
          </a:xfrm>
          <a:prstGeom prst="roundRect">
            <a:avLst>
              <a:gd name="adj" fmla="val 50000"/>
            </a:avLst>
          </a:prstGeom>
          <a:solidFill>
            <a:srgbClr val="FBEAE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B84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UNDERSTANDING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92354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one feature, and performance collapses</a:t>
            </a:r>
            <a:endParaRPr lang="en-US" sz="27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1737360"/>
          <a:ext cx="6035040" cy="4069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783080"/>
            <a:ext cx="502920" cy="502920"/>
          </a:xfrm>
          <a:prstGeom prst="ellipse">
            <a:avLst/>
          </a:prstGeom>
          <a:solidFill>
            <a:srgbClr val="DC5F3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0" descr="icons/IoFlameOutli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9140" y="1848460"/>
            <a:ext cx="372161" cy="37216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223760" y="2432304"/>
            <a:ext cx="4327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5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task_completion_rate alone carries almost all of the predictive power.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7223760" y="3246120"/>
            <a:ext cx="4327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it pushes Random Forest MAE from 4.85 to 20.26, within noise of the dummy median baseline (≈20.35).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4069080"/>
            <a:ext cx="4327855" cy="1691640"/>
          </a:xfrm>
          <a:prstGeom prst="roundRect">
            <a:avLst>
              <a:gd name="adj" fmla="val 4865"/>
            </a:avLst>
          </a:prstGeom>
          <a:solidFill>
            <a:srgbClr val="E6EDEF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43216" y="4224528"/>
            <a:ext cx="3888943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does not invalidate the pipeline. </a:t>
            </a:r>
            <a:br>
              <a:rPr lang="en-US" sz="120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b="1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narrows the claim</a:t>
            </a:r>
            <a:r>
              <a:rPr lang="en-US" sz="120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project demonstrates predictive modeling and is explicit about exactly where its reliability comes from.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64008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A8F9B"/>
                </a:solidFill>
                <a:latin typeface="Calibri" pitchFamily="34" charset="0"/>
                <a:cs typeface="Calibri" pitchFamily="34" charset="-120"/>
              </a:rPr>
              <a:t>WFH Burnout Predictor · Simone Mastria · University of Bologna</a:t>
            </a:r>
          </a:p>
        </p:txBody>
      </p:sp>
      <p:sp>
        <p:nvSpPr>
          <p:cNvPr id="13" name="Text 9"/>
          <p:cNvSpPr/>
          <p:nvPr/>
        </p:nvSpPr>
        <p:spPr>
          <a:xfrm>
            <a:off x="1018001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472538" cy="292608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2472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SECONDARY TASK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92354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55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labels help, but the rarest class stays hard to catch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34238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0.700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83938" y="1691640"/>
            <a:ext cx="34238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0.690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383938" y="242316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127797" y="1691640"/>
            <a:ext cx="34238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</a:t>
            </a:r>
            <a:endParaRPr lang="en-US" sz="1700" dirty="0"/>
          </a:p>
          <a:p>
            <a:r>
              <a:t>balanced</a:t>
            </a:r>
          </a:p>
        </p:txBody>
      </p:sp>
      <p:sp>
        <p:nvSpPr>
          <p:cNvPr id="10" name="Text 8"/>
          <p:cNvSpPr/>
          <p:nvPr/>
        </p:nvSpPr>
        <p:spPr>
          <a:xfrm>
            <a:off x="8127797" y="242316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classifier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34640"/>
          <a:ext cx="10911535" cy="1682496"/>
        </p:xfrm>
        <a:graphic>
          <a:graphicData uri="http://schemas.openxmlformats.org/drawingml/2006/table">
            <a:tbl>
              <a:tblPr/>
              <a:tblGrid>
                <a:gridCol w="61566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7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B84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84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84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84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B84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" y="4745736"/>
            <a:ext cx="10911535" cy="13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/>
              <a:t>Classifier selected by macro F1, which weights all three classes equally. </a:t>
            </a:r>
          </a:p>
          <a:p>
            <a:r>
              <a:rPr lang="en-US" sz="1100" dirty="0"/>
              <a:t>Random Forest balanced wins (macro F1 0.690 vs 0.646 for Logistic Regression). </a:t>
            </a:r>
          </a:p>
          <a:p>
            <a:endParaRPr lang="en-US" sz="1100" dirty="0"/>
          </a:p>
          <a:p>
            <a:r>
              <a:rPr lang="en-US" sz="1100" dirty="0"/>
              <a:t>Note: LR had higher High-risk recall (0.75 vs 0.25): it caught 3 of 4 true High cases while RF catches only 1. </a:t>
            </a:r>
          </a:p>
          <a:p>
            <a:r>
              <a:rPr lang="en-US" sz="1100" dirty="0"/>
              <a:t>This is a genuine trade-off: for a screening tool, missing a real burnout case carries higher cost than a false alarm, making High recall operationally critical alongside macro F1. </a:t>
            </a:r>
          </a:p>
          <a:p>
            <a:r>
              <a:rPr lang="en-US" sz="1100" dirty="0"/>
              <a:t>All High-class figures rest on 4 test cases and should be read as directional only.</a:t>
            </a:r>
          </a:p>
        </p:txBody>
      </p:sp>
      <p:sp>
        <p:nvSpPr>
          <p:cNvPr id="13" name="Text 10"/>
          <p:cNvSpPr/>
          <p:nvPr/>
        </p:nvSpPr>
        <p:spPr>
          <a:xfrm>
            <a:off x="64008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A8F9B"/>
                </a:solidFill>
                <a:latin typeface="Calibri" pitchFamily="34" charset="0"/>
                <a:cs typeface="Calibri" pitchFamily="34" charset="-120"/>
              </a:rPr>
              <a:t>WFH Burnout Predictor · Simone Mastria · University of Bologna</a:t>
            </a:r>
          </a:p>
        </p:txBody>
      </p:sp>
      <p:sp>
        <p:nvSpPr>
          <p:cNvPr id="14" name="Text 11"/>
          <p:cNvSpPr/>
          <p:nvPr/>
        </p:nvSpPr>
        <p:spPr>
          <a:xfrm>
            <a:off x="1018001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136038" cy="292608"/>
          </a:xfrm>
          <a:prstGeom prst="roundRect">
            <a:avLst>
              <a:gd name="adj" fmla="val 50000"/>
            </a:avLst>
          </a:prstGeom>
          <a:solidFill>
            <a:srgbClr val="E6EDE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2136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5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→ DEPLOYMENT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92354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550" b="1" dirty="0">
                <a:solidFill>
                  <a:srgbClr val="171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cautious decision-support tool, not an automatic verdict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423818" cy="2834640"/>
          </a:xfrm>
          <a:prstGeom prst="roundRect">
            <a:avLst>
              <a:gd name="adj" fmla="val 2903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877824" y="1929384"/>
            <a:ext cx="475488" cy="475488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0" descr="icons/IoEyeOutli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637" y="1991197"/>
            <a:ext cx="351861" cy="35186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2560320"/>
            <a:ext cx="29483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77824" y="2971800"/>
            <a:ext cx="294833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importance confirms task_completion_rate dominates the prediction, but it should not be read causally.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83938" y="1691640"/>
            <a:ext cx="3423818" cy="2834640"/>
          </a:xfrm>
          <a:prstGeom prst="roundRect">
            <a:avLst>
              <a:gd name="adj" fmla="val 2903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4621682" y="1929384"/>
            <a:ext cx="475488" cy="475488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1" descr="icons/IoShieldCheckmarkOutli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3496" y="1991197"/>
            <a:ext cx="351861" cy="35186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1682" y="2560320"/>
            <a:ext cx="29483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checks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621682" y="2971800"/>
            <a:ext cx="2948330" cy="15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has no classic sensitive attributes. Errors and high-risk recall are still checked across day_type, after_hours_work and work-hour bands.</a:t>
            </a:r>
            <a:endParaRPr lang="en-US" sz="1150" dirty="0"/>
          </a:p>
          <a:p>
            <a:r>
              <a:rPr sz="900" i="1" dirty="0">
                <a:solidFill>
                  <a:srgbClr val="785000"/>
                </a:solidFill>
              </a:rPr>
              <a:t>Note: High-risk recall per subgroup is computed on 0–3 positive cases </a:t>
            </a:r>
            <a:r>
              <a:rPr lang="it-IT" sz="900" i="1" dirty="0">
                <a:solidFill>
                  <a:srgbClr val="785000"/>
                </a:solidFill>
              </a:rPr>
              <a:t>so </a:t>
            </a:r>
            <a:r>
              <a:rPr sz="900" i="1" dirty="0">
                <a:solidFill>
                  <a:srgbClr val="785000"/>
                </a:solidFill>
              </a:rPr>
              <a:t>figures indicate direction, not statistical certainty.</a:t>
            </a:r>
          </a:p>
        </p:txBody>
      </p:sp>
      <p:sp>
        <p:nvSpPr>
          <p:cNvPr id="15" name="Shape 11"/>
          <p:cNvSpPr/>
          <p:nvPr/>
        </p:nvSpPr>
        <p:spPr>
          <a:xfrm>
            <a:off x="8127797" y="1691640"/>
            <a:ext cx="3423818" cy="2834640"/>
          </a:xfrm>
          <a:prstGeom prst="roundRect">
            <a:avLst>
              <a:gd name="adj" fmla="val 2903"/>
            </a:avLst>
          </a:prstGeom>
          <a:solidFill>
            <a:srgbClr val="F4F5F7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2"/>
          <p:cNvSpPr/>
          <p:nvPr/>
        </p:nvSpPr>
        <p:spPr>
          <a:xfrm>
            <a:off x="8365541" y="1929384"/>
            <a:ext cx="475488" cy="475488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7" name="Image 2" descr="icons/IoRocketOutlin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354" y="1991197"/>
            <a:ext cx="351861" cy="35186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65541" y="2560320"/>
            <a:ext cx="29483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plan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365541" y="2971800"/>
            <a:ext cx="294833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full pipeline, not just the model. Monitor feature and performance drift. </a:t>
            </a:r>
            <a:b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leakage and fairness audits over time.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40080" y="480060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4181F"/>
          </a:solidFill>
          <a:ln/>
          <a:effectLst>
            <a:outerShdw blurRad="114300" dist="25400" dir="5400000" algn="bl" rotWithShape="0">
              <a:srgbClr val="1A1A1A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6"/>
          <p:cNvSpPr/>
          <p:nvPr/>
        </p:nvSpPr>
        <p:spPr>
          <a:xfrm>
            <a:off x="896112" y="4965192"/>
            <a:ext cx="438912" cy="438912"/>
          </a:xfrm>
          <a:prstGeom prst="ellipse">
            <a:avLst/>
          </a:prstGeom>
          <a:solidFill>
            <a:srgbClr val="DC5F3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2" name="Image 3" descr="icons/IoAlertCircleOutlin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171" y="5022251"/>
            <a:ext cx="324795" cy="32479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08760" y="4800600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 on real organizational data is required before any operational use — this remains a research-stage pipeline.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64008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A8F9B"/>
                </a:solidFill>
                <a:latin typeface="Calibri" pitchFamily="34" charset="0"/>
                <a:cs typeface="Calibri" pitchFamily="34" charset="-120"/>
              </a:rPr>
              <a:t>WFH Burnout Predictor · Simone Mastria · University of Bologna</a:t>
            </a:r>
          </a:p>
        </p:txBody>
      </p:sp>
      <p:sp>
        <p:nvSpPr>
          <p:cNvPr id="25" name="Text 19"/>
          <p:cNvSpPr/>
          <p:nvPr/>
        </p:nvSpPr>
        <p:spPr>
          <a:xfrm>
            <a:off x="1018001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4"/>
          <p:cNvSpPr/>
          <p:nvPr/>
        </p:nvSpPr>
        <p:spPr>
          <a:xfrm>
            <a:off x="640080" y="548640"/>
            <a:ext cx="1126541" cy="292608"/>
          </a:xfrm>
          <a:prstGeom prst="roundRect">
            <a:avLst>
              <a:gd name="adj" fmla="val 50000"/>
            </a:avLst>
          </a:prstGeom>
          <a:solidFill>
            <a:srgbClr val="1D233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640080" y="548640"/>
            <a:ext cx="11265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D8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" y="98755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actually demonstrates</a:t>
            </a:r>
            <a:endParaRPr lang="en-US" sz="3000" dirty="0"/>
          </a:p>
        </p:txBody>
      </p:sp>
      <p:sp>
        <p:nvSpPr>
          <p:cNvPr id="29" name="Shape 27"/>
          <p:cNvSpPr/>
          <p:nvPr/>
        </p:nvSpPr>
        <p:spPr>
          <a:xfrm>
            <a:off x="640080" y="1993392"/>
            <a:ext cx="457200" cy="457200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64008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16736" y="195681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understanding drives the project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316736" y="22860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but simple data, repeated users, and a rare High-risk class shape every later choice.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0080" y="2834640"/>
            <a:ext cx="457200" cy="457200"/>
          </a:xfrm>
          <a:prstGeom prst="ellipse">
            <a:avLst/>
          </a:prstGeom>
          <a:solidFill>
            <a:srgbClr val="2F596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6400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316736" y="2798064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is conservative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1316736" y="312724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are grouped end-to-end, so no employee leaks between training and test.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0080" y="3675888"/>
            <a:ext cx="457200" cy="457200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8" name="Text 36"/>
          <p:cNvSpPr/>
          <p:nvPr/>
        </p:nvSpPr>
        <p:spPr>
          <a:xfrm>
            <a:off x="640080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316736" y="3639312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regression result is strong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1316736" y="396849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Random Forest reaches MAE 4.84 and R² 0.935 on employees unseen during training.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517136"/>
            <a:ext cx="457200" cy="457200"/>
          </a:xfrm>
          <a:prstGeom prst="ellipse">
            <a:avLst/>
          </a:prstGeom>
          <a:solidFill>
            <a:srgbClr val="DC5F3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2" name="Text 40"/>
          <p:cNvSpPr/>
          <p:nvPr/>
        </p:nvSpPr>
        <p:spPr>
          <a:xfrm>
            <a:off x="640080" y="4517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316736" y="448056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limitation is explicit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1316736" y="48097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leans heavily on </a:t>
            </a:r>
            <a:r>
              <a:rPr lang="en-US" sz="1200" dirty="0" err="1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task_completion_rate</a:t>
            </a:r>
            <a:r>
              <a:rPr lang="en-US" sz="120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40080" y="5358384"/>
            <a:ext cx="457200" cy="457200"/>
          </a:xfrm>
          <a:prstGeom prst="ellipse">
            <a:avLst/>
          </a:prstGeom>
          <a:solidFill>
            <a:srgbClr val="5C8B9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6" name="Text 44"/>
          <p:cNvSpPr/>
          <p:nvPr/>
        </p:nvSpPr>
        <p:spPr>
          <a:xfrm>
            <a:off x="640080" y="5358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316736" y="532180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read</a:t>
            </a:r>
            <a:endParaRPr lang="en-US" sz="1450" dirty="0"/>
          </a:p>
        </p:txBody>
      </p:sp>
      <p:sp>
        <p:nvSpPr>
          <p:cNvPr id="48" name="Text 46"/>
          <p:cNvSpPr/>
          <p:nvPr/>
        </p:nvSpPr>
        <p:spPr>
          <a:xfrm>
            <a:off x="1316736" y="565099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 predictive pipeline but there is not evidence of causal burnout mechanisms.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40080" y="6400800"/>
            <a:ext cx="10911535" cy="0"/>
          </a:xfrm>
          <a:prstGeom prst="line">
            <a:avLst/>
          </a:prstGeom>
          <a:noFill/>
          <a:ln w="12700">
            <a:solidFill>
              <a:srgbClr val="2B324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0" name="Text 4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WFH Burnout Predictor · Simone Mastria · University of Bologna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1800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1606</Words>
  <Application>Microsoft Macintosh PowerPoint</Application>
  <PresentationFormat>Widescreen</PresentationFormat>
  <Paragraphs>277</Paragraphs>
  <Slides>12</Slides>
  <Notes>12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WFH Burnout Predictor</dc:title>
  <dc:subject>PptxGenJS Presentation</dc:subject>
  <dc:creator>Simone Mastria</dc:creator>
  <cp:lastModifiedBy>Simone Mastria</cp:lastModifiedBy>
  <cp:revision>4</cp:revision>
  <dcterms:created xsi:type="dcterms:W3CDTF">2026-06-20T13:49:22Z</dcterms:created>
  <dcterms:modified xsi:type="dcterms:W3CDTF">2026-06-22T20:27:04Z</dcterms:modified>
</cp:coreProperties>
</file>